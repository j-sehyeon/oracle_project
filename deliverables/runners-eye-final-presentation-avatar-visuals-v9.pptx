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c84ed7a114152" /><Relationship Type="http://schemas.openxmlformats.org/officeDocument/2006/relationships/extended-properties" Target="/docProps/app.xml" Id="R453855920ffe48c8" /><Relationship Type="http://schemas.openxmlformats.org/officeDocument/2006/relationships/officeDocument" Target="/ppt/presentation.xml" Id="Rf584d9970379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743d475d604deb"/>
  </p:sldMasterIdLst>
  <p:notesMasterIdLst>
    <p:notesMasterId xmlns:r="http://schemas.openxmlformats.org/officeDocument/2006/relationships" r:id="R717d40ed316f4cc4"/>
  </p:notesMasterIdLst>
  <p:sldIdLst>
    <p:sldId xmlns:r="http://schemas.openxmlformats.org/officeDocument/2006/relationships" id="256" r:id="R015cfd10a61d4d5e"/>
    <p:sldId xmlns:r="http://schemas.openxmlformats.org/officeDocument/2006/relationships" id="257" r:id="Rc3d0d8caa20a4a2c"/>
    <p:sldId xmlns:r="http://schemas.openxmlformats.org/officeDocument/2006/relationships" id="258" r:id="Rb2710e27ed0d449d"/>
    <p:sldId xmlns:r="http://schemas.openxmlformats.org/officeDocument/2006/relationships" id="259" r:id="Ref9b567c4bc04f8c"/>
    <p:sldId xmlns:r="http://schemas.openxmlformats.org/officeDocument/2006/relationships" id="260" r:id="R7706a955229049f7"/>
    <p:sldId xmlns:r="http://schemas.openxmlformats.org/officeDocument/2006/relationships" id="261" r:id="R71f491d96d5847c4"/>
    <p:sldId xmlns:r="http://schemas.openxmlformats.org/officeDocument/2006/relationships" id="262" r:id="R21cea442a4fe45df"/>
    <p:sldId xmlns:r="http://schemas.openxmlformats.org/officeDocument/2006/relationships" id="263" r:id="Rc89df15b35914781"/>
    <p:sldId xmlns:r="http://schemas.openxmlformats.org/officeDocument/2006/relationships" id="264" r:id="Raab8c1f54f3c489a"/>
    <p:sldId xmlns:r="http://schemas.openxmlformats.org/officeDocument/2006/relationships" id="265" r:id="R3bc3f55d5d2f4266"/>
    <p:sldId xmlns:r="http://schemas.openxmlformats.org/officeDocument/2006/relationships" id="266" r:id="R4f43972a0c1548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eb129138e149ed" /><Relationship Type="http://schemas.openxmlformats.org/officeDocument/2006/relationships/slideMaster" Target="/ppt/slideMasters/slideMaster1.xml" Id="R69743d475d604deb" /><Relationship Type="http://schemas.openxmlformats.org/officeDocument/2006/relationships/notesMaster" Target="/ppt/notesMasters/notesMaster1.xml" Id="R717d40ed316f4cc4" /><Relationship Type="http://schemas.openxmlformats.org/officeDocument/2006/relationships/presProps" Target="/ppt/presProps.xml" Id="Ra8660249285d403d" /><Relationship Type="http://schemas.openxmlformats.org/officeDocument/2006/relationships/tableStyles" Target="/ppt/tableStyles.xml" Id="Rd7ea9e3948864d6f" /><Relationship Type="http://schemas.openxmlformats.org/officeDocument/2006/relationships/slide" Target="/ppt/slides/slide1.xml" Id="R015cfd10a61d4d5e" /><Relationship Type="http://schemas.openxmlformats.org/officeDocument/2006/relationships/slide" Target="/ppt/slides/slide2.xml" Id="Rc3d0d8caa20a4a2c" /><Relationship Type="http://schemas.openxmlformats.org/officeDocument/2006/relationships/slide" Target="/ppt/slides/slide3.xml" Id="Rb2710e27ed0d449d" /><Relationship Type="http://schemas.openxmlformats.org/officeDocument/2006/relationships/slide" Target="/ppt/slides/slide4.xml" Id="Ref9b567c4bc04f8c" /><Relationship Type="http://schemas.openxmlformats.org/officeDocument/2006/relationships/slide" Target="/ppt/slides/slide5.xml" Id="R7706a955229049f7" /><Relationship Type="http://schemas.openxmlformats.org/officeDocument/2006/relationships/slide" Target="/ppt/slides/slide6.xml" Id="R71f491d96d5847c4" /><Relationship Type="http://schemas.openxmlformats.org/officeDocument/2006/relationships/slide" Target="/ppt/slides/slide7.xml" Id="R21cea442a4fe45df" /><Relationship Type="http://schemas.openxmlformats.org/officeDocument/2006/relationships/slide" Target="/ppt/slides/slide8.xml" Id="Rc89df15b35914781" /><Relationship Type="http://schemas.openxmlformats.org/officeDocument/2006/relationships/slide" Target="/ppt/slides/slide9.xml" Id="Raab8c1f54f3c489a" /><Relationship Type="http://schemas.openxmlformats.org/officeDocument/2006/relationships/slide" Target="/ppt/slides/slide10.xml" Id="R3bc3f55d5d2f4266" /><Relationship Type="http://schemas.openxmlformats.org/officeDocument/2006/relationships/slide" Target="/ppt/slides/slide11.xml" Id="R4f43972a0c1548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5413444842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2d1f34fb5e418c" /><Relationship Type="http://schemas.openxmlformats.org/officeDocument/2006/relationships/notesMaster" Target="/ppt/notesMasters/notesMaster1.xml" Id="R1bf5ed626ef946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0be8c267414dca" /><Relationship Type="http://schemas.openxmlformats.org/officeDocument/2006/relationships/notesMaster" Target="/ppt/notesMasters/notesMaster1.xml" Id="R1c1b70b355594f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34f2ad60844cc0" /><Relationship Type="http://schemas.openxmlformats.org/officeDocument/2006/relationships/notesMaster" Target="/ppt/notesMasters/notesMaster1.xml" Id="Rcd3a898c39af4d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696dd2011347c9" /><Relationship Type="http://schemas.openxmlformats.org/officeDocument/2006/relationships/notesMaster" Target="/ppt/notesMasters/notesMaster1.xml" Id="R4a4ea8abccbf40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3bd19615c14204" /><Relationship Type="http://schemas.openxmlformats.org/officeDocument/2006/relationships/notesMaster" Target="/ppt/notesMasters/notesMaster1.xml" Id="Rb5b6c40fc27a4c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d650a72c974c67" /><Relationship Type="http://schemas.openxmlformats.org/officeDocument/2006/relationships/notesMaster" Target="/ppt/notesMasters/notesMaster1.xml" Id="R485c8c1496224d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a8c7dfe8dc4f0c" /><Relationship Type="http://schemas.openxmlformats.org/officeDocument/2006/relationships/notesMaster" Target="/ppt/notesMasters/notesMaster1.xml" Id="Rcdddd1a1c01d43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b8651166dd43d4" /><Relationship Type="http://schemas.openxmlformats.org/officeDocument/2006/relationships/notesMaster" Target="/ppt/notesMasters/notesMaster1.xml" Id="R3183b424c47846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fac95bc2e54e97" /><Relationship Type="http://schemas.openxmlformats.org/officeDocument/2006/relationships/notesMaster" Target="/ppt/notesMasters/notesMaster1.xml" Id="Rf1004bab4f3d48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04c7fb1fa04def" /><Relationship Type="http://schemas.openxmlformats.org/officeDocument/2006/relationships/notesMaster" Target="/ppt/notesMasters/notesMaster1.xml" Id="R8d28e9209da640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8a36863b0146b2" /><Relationship Type="http://schemas.openxmlformats.org/officeDocument/2006/relationships/notesMaster" Target="/ppt/notesMasters/notesMaster1.xml" Id="R45ff4941e87b41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서비스 이름과 한 문장 설명만 전달한다. Source: 기존 발표자료 1장.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역할 정보는 제공 자료에 없어 빈칸으로 유지한다. 발표 전 담당 업무를 한 줄씩 입력한다.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Source: 기존 발표자료 4~7장과 앱 화면 이미지. 진단 서비스가 아니라 러닝 자세 분석 및 피드백 서비스로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시연 영상 파일이 제공되지 않아 교체 가능한 영상 영역으로 구성했다. 현재 포스터는 Coach/run/test12/outputs/output.mp4의 대표 프레임이다.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Coach/run/test12/transformed.mp4, Coach/run/test12/outputs/output.mp4, 기존 발표자료의 피처 이미지와 기록 화면, Coach/scripts/main.sh. 영상, HPE, 피처, 에이전트의 4단계 흐름을 한 장에 합쳤다.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사용자 제공 codex-clipboard-2ed76b86-2e47-4cdc-b27d-c352b1b25716.png. 내용, 객체 위치, 보간 그래프, 화살표 방향과 연결 관계는 변경하지 않고 선·배경·폰트·강조색만 발표자료 스타일로 변경했다.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Coach/scripts/features/feature_extract.py, Coach/scripts/features/utils.py. 네 함수 feature1~feature4와 PoseSequence의 cal_stride, gct, pixel2m을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Coach/scripts/Agent/Running_coach.py, Coach/scripts/Agent/prompts.py. 현재 모델명은 gpt-5-nano이며 feature_results.json을 입력으로 running_report.md를 생성한다.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사용자 제공 codex-clipboard-681490a5-34db-4f1f-b879-3fff821df989.png. 원본의 영역 중첩, 객체 위치, 5~20번 흐름, 방향, 저장소, 관찰 가능성, 선택 기능을 유지하고 선·배경·폰트·강조색만 발표자료 스타일로 변경했다.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Ollama는 원본 구조도에서 선택 기능이다. 현재 Coach 코드의 리포트 에이전트는 앞 슬라이드처럼 LangChain + gpt-5-nano이며, 두 구현을 동일 구성요소로 오해하지 않도록 분리해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핵심 문장을 읽고 Q&amp;A로 전환한다.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90684abd0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98faf8c20645c7" /><Relationship Type="http://schemas.openxmlformats.org/officeDocument/2006/relationships/slideLayout" Target="/ppt/slideLayouts/slideLayout1.xml" Id="R79611203af2c41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611203af2c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9f779cc01465d" /><Relationship Type="http://schemas.openxmlformats.org/officeDocument/2006/relationships/image" Target="/ppt/media/image.png" Id="Rd62759b8e23d4ccd" /><Relationship Type="http://schemas.openxmlformats.org/officeDocument/2006/relationships/notesSlide" Target="/ppt/notesSlides/notesSlide1.xml" Id="R4aaa34e88d5b44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27b3df7bc4b64" /><Relationship Type="http://schemas.openxmlformats.org/officeDocument/2006/relationships/notesSlide" Target="/ppt/notesSlides/notesSlide2.xml" Id="Rff76a510171b46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682cdf9e64778" /><Relationship Type="http://schemas.openxmlformats.org/officeDocument/2006/relationships/image" Target="/ppt/media/image2.png" Id="R42940e0e0eb44d73" /><Relationship Type="http://schemas.openxmlformats.org/officeDocument/2006/relationships/image" Target="/ppt/media/image3.png" Id="Rd56381c04c50425d" /><Relationship Type="http://schemas.openxmlformats.org/officeDocument/2006/relationships/notesSlide" Target="/ppt/notesSlides/notesSlide3.xml" Id="Rd18288b5d1844d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05478732b4eff" /><Relationship Type="http://schemas.openxmlformats.org/officeDocument/2006/relationships/image" Target="/ppt/media/image4.png" Id="Rf1976cff6c984ad1" /><Relationship Type="http://schemas.openxmlformats.org/officeDocument/2006/relationships/notesSlide" Target="/ppt/notesSlides/notesSlide4.xml" Id="R20cb84d6713e46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1bc6e60fc4cd9" /><Relationship Type="http://schemas.openxmlformats.org/officeDocument/2006/relationships/image" Target="/ppt/media/image5.png" Id="R676d6ff35fd74b79" /><Relationship Type="http://schemas.openxmlformats.org/officeDocument/2006/relationships/image" Target="/ppt/media/image6.png" Id="R55016990389740ce" /><Relationship Type="http://schemas.openxmlformats.org/officeDocument/2006/relationships/image" Target="/ppt/media/image7.png" Id="R6786d84f3b2c4e63" /><Relationship Type="http://schemas.openxmlformats.org/officeDocument/2006/relationships/image" Target="/ppt/media/image8.png" Id="Rd60250d435254059" /><Relationship Type="http://schemas.openxmlformats.org/officeDocument/2006/relationships/image" Target="/ppt/media/image9.png" Id="R110b332c0deb46a7" /><Relationship Type="http://schemas.openxmlformats.org/officeDocument/2006/relationships/notesSlide" Target="/ppt/notesSlides/notesSlide5.xml" Id="R5bf6be60a6ba41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f17c3f5cf4e1f" /><Relationship Type="http://schemas.openxmlformats.org/officeDocument/2006/relationships/notesSlide" Target="/ppt/notesSlides/notesSlide6.xml" Id="Rd695ef11d06e4a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b4d41636749d5" /><Relationship Type="http://schemas.openxmlformats.org/officeDocument/2006/relationships/image" Target="/ppt/media/image10.png" Id="R83e1cf2bc7014962" /><Relationship Type="http://schemas.openxmlformats.org/officeDocument/2006/relationships/image" Target="/ppt/media/image11.png" Id="R134d82b01dd144e0" /><Relationship Type="http://schemas.openxmlformats.org/officeDocument/2006/relationships/image" Target="/ppt/media/image12.png" Id="Rabe1c0906231409a" /><Relationship Type="http://schemas.openxmlformats.org/officeDocument/2006/relationships/image" Target="/ppt/media/image13.png" Id="R2bbda03a7a3440bf" /><Relationship Type="http://schemas.openxmlformats.org/officeDocument/2006/relationships/notesSlide" Target="/ppt/notesSlides/notesSlide7.xml" Id="Rff5af078965642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5dc45381146d4" /><Relationship Type="http://schemas.openxmlformats.org/officeDocument/2006/relationships/notesSlide" Target="/ppt/notesSlides/notesSlide8.xml" Id="R06a6acc26f3a44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62db072104446" /><Relationship Type="http://schemas.openxmlformats.org/officeDocument/2006/relationships/notesSlide" Target="/ppt/notesSlides/notesSlide9.xml" Id="Rbdc4e03522c146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7ad3b9e7a4c9a" /><Relationship Type="http://schemas.openxmlformats.org/officeDocument/2006/relationships/notesSlide" Target="/ppt/notesSlides/notesSlide10.xml" Id="R1b1d1541762b4b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6b5c6549b4c9c" /><Relationship Type="http://schemas.openxmlformats.org/officeDocument/2006/relationships/notesSlide" Target="/ppt/notesSlides/notesSlide11.xml" Id="R5241a02e5f6d45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77D82-9E93-4ED8-830D-D7A9A647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FE4FD-081E-4970-AB98-D50DF18A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E3D51-B33D-412D-8631-AF62A382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달리는 순간,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데이터로 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477DD-8C47-4B97-A56B-09A8693F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영상을 자세 데이터와 실행 가능한 피드백으로 바꾸는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687C5-370B-4319-89D2-E026C933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928B6-47B2-4CA2-8C0A-75474C0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테무 꽃보다 남자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7E37D-5BC3-4853-9877-C36BCBB9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박재혁   정승인   정세현   박주환   유한나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ABD02-9B64-4AAC-AF6B-13E43EE6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42950"/>
            <a:ext cx="2686050" cy="54102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759b8e23d4ccd"/>
          <a:stretch xmlns:a="http://schemas.openxmlformats.org/drawingml/2006/main"/>
        </p:blipFill>
        <p:spPr>
          <a:xfrm xmlns:a="http://schemas.openxmlformats.org/drawingml/2006/main">
            <a:off x="8648700" y="1016418"/>
            <a:ext cx="2171700" cy="48251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A22CE-5E1D-471F-9D9F-0CFA2F02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RUNNERS EYE</a:t>
            </a:r>
          </a:p>
        </p:txBody>
      </p:sp>
    </p:spTree>
    <p:extLst>
      <p:ext uri="{BB962C8B-B14F-4D97-AF65-F5344CB8AC3E}">
        <p14:creationId xmlns:p14="http://schemas.microsoft.com/office/powerpoint/2010/main" val="1379978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5B6E7-F6CD-484B-AFAE-D49B1480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 ·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3B4E0-AB5C-4794-9BD9-FC7AC43F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EF3E1-14EC-4E1D-907D-8B24980A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구성과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FC8AE-1386-409D-828B-8D465030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97A40-A645-4D50-BEC2-7E580619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발표 전 각 담당 영역을 입력할 수 있도록 역할 칸을 비워 두었습니다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44779-44BC-4304-A825-79208E46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EE40E-ED39-4968-8369-A6FD754E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박재혁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5C65D-8B77-49B5-95A7-C620CF01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288CC-F232-4CED-AE99-7B206D88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A4D19-9138-4BAB-AC65-792BE645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5F3C4-D52B-4650-AB86-455D0BBD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877D8-1CC7-473E-8533-6828BCF8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CCB8E-9A81-4012-9D25-C427AA49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E8F4F-5449-4246-AF5D-9BA857A4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BF0B9-2812-4C91-AFA3-DC886F1E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정세현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99C22-2524-4027-AED6-394A0E0C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7980A-2995-4E33-91F3-4890674C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47EE1E-BC81-4A44-803A-205C47D1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7C78E-E14B-4AEA-A1C8-BCDC002C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박주환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D0940-4B67-42E0-A309-4B38D2F8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6FC87-3F09-4BCF-B6FB-C48D58A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46895-E19C-47FF-B855-082548E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F4FC1-170D-45DE-9F15-3BDF4B59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유한나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9846F-88EF-4BB5-85B1-A93C45A1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ED4D5-2E4F-45A4-9F8B-7DE61D8A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950167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501E5B-1040-4C65-AC00-3C4FDAC4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 ·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FEE98-7B35-433E-92DD-4A6ADA58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DFDBC-18DC-44CC-BE14-67A75599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CFCFF-4209-4E25-B53D-3F5B4E02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CA3AF-FEBD-480A-AB59-A701CD04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러닝 영상 한 번으로 자세 측정, 설명, 변화 기록까지 연결합니다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BBB19-4414-4D2C-8136-A64E2C45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1022A-D1F2-4C72-9E0F-C4E55D86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1A739-4884-4330-AAB2-D0F0CA64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전신이 보이는 짧은 MP4와 사용자 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BD602-5F4C-4069-8864-5F7FE18A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0C146-686E-420E-8EFD-70CF4501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94905-FE48-4D00-8756-1DD8A634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B5365-503C-4064-90C6-14D2F3DC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좌표에서 네 가지 러닝 자세 특성값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65069-F1A5-4CA1-BAD2-49920654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BAF64-C54D-4703-B187-B5336C17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B0351-3FBE-41C9-924C-7AAE7006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리포트와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2066E-EDF6-4503-B58E-81F12B5A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측정값, 개선 피드백, 스켈레톤 영상을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BF876-73DF-45D3-A52A-B42284C2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1FE27-9816-4C03-80D2-3F40AFAB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B51F8-DF76-475E-BFDC-9843909D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40e0e0eb44d73"/>
          <a:stretch xmlns:a="http://schemas.openxmlformats.org/drawingml/2006/main"/>
        </p:blipFill>
        <p:spPr>
          <a:xfrm xmlns:a="http://schemas.openxmlformats.org/drawingml/2006/main">
            <a:off x="6953250" y="2035494"/>
            <a:ext cx="1657350" cy="368236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381c04c50425d"/>
          <a:stretch xmlns:a="http://schemas.openxmlformats.org/drawingml/2006/main"/>
        </p:blipFill>
        <p:spPr>
          <a:xfrm xmlns:a="http://schemas.openxmlformats.org/drawingml/2006/main">
            <a:off x="9372600" y="2035494"/>
            <a:ext cx="1657350" cy="368236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35CDD-0526-4913-803F-1DC16699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3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FE7313-8398-4DE2-8D71-4A99BC3D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421925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6072E4-D423-4D71-B721-7D4B0666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 · 시연 영상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6B8EC-40D7-4795-8332-25068846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D2E7D-B614-4D69-A995-F6152DD9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시연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4C48F-F7EE-4870-AFAB-040FE3AA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152FD-CAA9-43C0-B170-2E956DE2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0055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76cff6c984ad1"/>
          <a:srcRect xmlns:a="http://schemas.openxmlformats.org/drawingml/2006/main" l="0" t="889" r="0" b="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57350"/>
            <a:ext cx="7620000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F362F-D5B0-41AB-A0CC-B7342D49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22A90-6CE8-4BF1-897C-D6F3D235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817F3-A375-429C-BBA2-15E536D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335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발표용 서비스 시연 영상으로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80083-B1E2-40B1-AB64-2E09DB7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2A363-ACA6-4ADF-A87E-8216696E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선택과 분석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C4BCC-90C8-48B0-B907-FF9EAFB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6E38B-0AF9-40B6-9303-0CE2198E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CE7A6-9E7A-4FF8-968E-8876D114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146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진행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36C2E-3F14-44EE-B08D-8334272E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B709C-9CC5-4D87-B53E-1A8A7F71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FD90B-A3E2-48F9-AC87-F44047C8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점수와 핵심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5B98D-3B40-476E-87AF-087EC6DD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6382F-A332-44A7-88CF-A3A04760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AE232-1DD5-4075-A09F-4832E71B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기록 화면 재조회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09876-269E-4A4C-9BC6-FAB97C45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E450C-0E1E-4BC0-8F2D-8CB85338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895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14DD1-945D-40A9-A23D-8F48368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현재는 Coach 출력 영상의 대표 프레임입니다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영상 파일을 받으면 같은 영역에 교체합니다</a:t>
            </a:r>
          </a:p>
        </p:txBody>
      </p:sp>
    </p:spTree>
    <p:extLst>
      <p:ext uri="{BB962C8B-B14F-4D97-AF65-F5344CB8AC3E}">
        <p14:creationId xmlns:p14="http://schemas.microsoft.com/office/powerpoint/2010/main" val="2082333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B9E69A-975D-4A95-86C1-C7B77F8F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F4260-C274-4490-ACEA-A97E6FA0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DF187-E0E6-4ED4-89D8-53A2BD81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영상에서 분석 리포트까지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73414-4D10-425D-8238-542EC944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4B7B7-F2B5-49DF-8EA0-D8F2A20E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영상의 관절 좌표를 추출하고 움직임 피처를 계산해 에이전트 입력으로 전달합니다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07A3A-E051-408E-872B-CC1490C2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BA223-43F2-4632-8D38-CB9FC38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d6ff35fd74b79"/>
          <a:stretch xmlns:a="http://schemas.openxmlformats.org/drawingml/2006/main"/>
        </p:blipFill>
        <p:spPr>
          <a:xfrm xmlns:a="http://schemas.openxmlformats.org/drawingml/2006/main">
            <a:off x="1033357" y="2228850"/>
            <a:ext cx="1114636" cy="2076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F1CF2-BB72-484B-B732-037F8838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5275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23F91-9D05-4298-AB15-799EDC5E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67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6E6B0-B94B-4F16-ADBD-2BB55B58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MP4 · 측면 러닝 영상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95748-2E58-4F10-846C-2A1E1140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D957F-B695-421E-B188-E4A9E61C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62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16990389740ce"/>
          <a:stretch xmlns:a="http://schemas.openxmlformats.org/drawingml/2006/main"/>
        </p:blipFill>
        <p:spPr>
          <a:xfrm xmlns:a="http://schemas.openxmlformats.org/drawingml/2006/main">
            <a:off x="3890531" y="2228850"/>
            <a:ext cx="1115288" cy="20764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BAFEF-612A-4072-994C-3D7BF0B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339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26개 관절 좌표 ·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DA4DD-7279-497A-A4C4-6106598E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82603-36AA-4467-8CB5-D4D3B5F1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4C472-F1E8-4095-BEFF-37AF9534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1047750" cy="20764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6d84f3b2c4e63"/>
          <a:srcRect xmlns:a="http://schemas.openxmlformats.org/drawingml/2006/main" l="5688" t="0" r="5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2286000"/>
            <a:ext cx="933450" cy="19621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E0CB4-7FCC-4D8A-A549-09F6DD20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28850"/>
            <a:ext cx="1047750" cy="20764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250d435254059"/>
          <a:srcRect xmlns:a="http://schemas.openxmlformats.org/drawingml/2006/main" l="5688" t="0" r="5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0450" y="2286000"/>
            <a:ext cx="933450" cy="19621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3EF8E-5DC4-4A9C-AFDC-414F2CC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95600"/>
            <a:ext cx="4953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42D9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1A8FEA-7D4D-4E13-9D64-6F534C1A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43225"/>
            <a:ext cx="4000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102.4°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C2AAB-357B-4475-8DB6-40CD6045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t₀   t₁   t₂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5E26D-496E-47BC-A2A8-70BC4F7D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89535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42D9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4AF98-6084-455E-857E-F0FEFF4F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05275"/>
            <a:ext cx="7429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관절 각도  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30B54-2924-4131-A0E7-FAC4ADC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895350" cy="190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B9FF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36EE5A-A2D3-42C0-BAE2-618BBE8E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05275"/>
            <a:ext cx="7429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속도  Δp / Δt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4378C-EC43-46FF-9779-BD15681F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프레임 간 좌표 변화 계산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97EA4-4B75-46C9-B2ED-A748AFC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819400" cy="314325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519187-5BCD-469C-95CA-9B625473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7E46C1-879F-44C7-8CB3-B0D7D163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38450"/>
            <a:ext cx="781050" cy="7810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C5C133-F54C-4C73-8AE1-CB7CEFF5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384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AI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226884-BA70-4A0F-820D-C236E763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90750"/>
            <a:ext cx="1581150" cy="23241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b332c0deb46a7"/>
          <a:srcRect xmlns:a="http://schemas.openxmlformats.org/drawingml/2006/main" l="0" t="16098" r="0" b="160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5550" y="2247900"/>
            <a:ext cx="1466850" cy="2209800"/>
          </a:xfrm>
          <a:prstGeom xmlns:a="http://schemas.openxmlformats.org/drawingml/2006/main" prst="rect">
            <a:avLst/>
          </a:prstGeom>
        </p:spPr>
      </p:pic>
      <p:cxnSp>
        <p:nvCxnSpPr>
          <p:cNvPr id="88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9906000" y="3228975"/>
            <a:ext cx="1524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635A96-49CC-4370-B66C-31306A96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101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통계 · 판정 · 코칭 리포트</a:t>
            </a:r>
          </a:p>
        </p:txBody>
      </p:sp>
      <p:cxnSp>
        <p:nvCxnSpPr>
          <p:cNvPr id="90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8130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9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63880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16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8496300" y="3228975"/>
            <a:ext cx="6286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D06416-0181-4F53-AF07-374B11CC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KEYPOINTS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A4595D-7170-4528-AF05-098FE0F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2420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FEATURES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E8480D-D1E1-4231-A4F6-E29B974D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VALUES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D8A102-8279-4A68-893C-FE61AD5C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C943E9-925E-4899-B7A5-5623F0FB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529E28-FB37-46E0-9622-2CC0313E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578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POSE ESTIMATION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A19DA9-59DF-414D-A462-871E412F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 데이터 추출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376C2C-F9CD-4A80-8B2F-4D3D7F22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578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ANGLE · VELOCITY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C2652E-1C94-4F8B-BB28-BB9A1F5A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0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E71073-A5DF-481A-B840-F1DEF5A3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57800"/>
            <a:ext cx="2819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54EFAA-5CA8-4295-A71B-AE736A5B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에이전트 분석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8C2240-D8B9-4940-BA5E-1991379E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main.sh는 HPE, 피처 계산, 에이전트를 순차 실행합니다</a:t>
            </a:r>
          </a:p>
        </p:txBody>
      </p:sp>
    </p:spTree>
    <p:extLst>
      <p:ext uri="{BB962C8B-B14F-4D97-AF65-F5344CB8AC3E}">
        <p14:creationId xmlns:p14="http://schemas.microsoft.com/office/powerpoint/2010/main" val="157828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02E27D-CCE4-47D5-8462-A973CF43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E9314-7CF7-46B4-8891-80964B55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62C62-6D86-4698-9FB3-36F75157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Coach 분석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B3BB9-2E9D-40B9-83A7-40119CF0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F76CB-C382-4089-AD35-FC1EA056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1239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41FCE-F5D2-4D8F-85D2-1C234E55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0ED4F-7AF8-4879-8157-0F3CB5C2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57500"/>
            <a:ext cx="15049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1FA68-069A-4CE4-B6B9-A8836973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337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프레임 단위로 분할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4B934-69C4-47A2-8CBA-4D652974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2133600" cy="22669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43F18-085B-4762-A4CB-E9B4920F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524000" cy="590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10906-32FD-4D09-9410-C8F2F15D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145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CC63E-2C1C-44AC-8BDE-D6C4D4FB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1524000" cy="590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91D2A-2AD6-4B9B-9E62-64EA273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193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촬영 규격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FD39C-5D16-40DB-9AD9-A1DB792B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1524000" cy="590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C77D7-31A7-40A9-B7DC-03B7762A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human pose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estimation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BAA8D-6A63-47AA-B54C-07F7CED9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43100"/>
            <a:ext cx="17145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F4471-6ECC-44D4-A9E7-5807BA07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5개 프레임 임시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9C1D0-83B3-4113-A589-EFEEF580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t-1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t+1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t+2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A63E6-F319-4CE4-B7EA-6E224D71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28194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F6F7C-3981-4B04-AA05-CAD64CA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Interpolation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A61FA-8F4D-426C-AD2B-271A6979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146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7E330-03BE-477F-ACD3-1C742A08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8A0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732136-68C0-445C-AA0A-A18CBEAB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2575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Frame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10BDA-7B88-4A65-9FF6-35DAA342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86150"/>
            <a:ext cx="1752600" cy="476250"/>
          </a:xfrm>
          <a:custGeom xmlns:a="http://schemas.openxmlformats.org/drawingml/2006/main">
            <a:pathLst>
              <a:path w="1752600" h="476250">
                <a:moveTo>
                  <a:pt x="0" y="323850"/>
                </a:moveTo>
                <a:lnTo>
                  <a:pt x="438150" y="171450"/>
                </a:lnTo>
                <a:lnTo>
                  <a:pt x="876300" y="76200"/>
                </a:lnTo>
                <a:lnTo>
                  <a:pt x="1314450" y="209550"/>
                </a:lnTo>
                <a:lnTo>
                  <a:pt x="1752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F7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14D01-BFCE-4649-8F2C-DD59CF34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5F64B-DD80-4AA1-8D76-1E239FB7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A00AD-97AE-4C2D-9153-7AE21318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8B22C-5397-48D1-9956-5A9FEA15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13D415-D73E-4B72-BCEB-B13C4296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B9833-3AAE-43A2-829C-199EBDC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3E6B4E-E340-4F71-9289-BCD7F361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5E15A7-292C-44AD-B84F-6E24C79F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24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42D9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B484B9-DB6E-4D5B-BCDF-1C1EBFD7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90EA52-110C-4362-BEDC-47AFFA40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40A4FD-EEC0-45EC-96DE-4A82BFF9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57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398748-D8E4-464A-A857-0268CFB1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6DB7B9-219B-405A-B861-39A5C46C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6D12B2-9591-4464-ACE6-586EC62D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67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E1297E-EF3A-41D6-9958-1924B193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EE9AAB-460D-48C8-BC51-C803EC40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86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FF67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C3CD3E-1476-48CB-89C4-9B1025D8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623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675F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6F4FB5-C960-45EF-8367-0D034665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57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675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675F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2C2C9B-1252-4A4A-B12C-146E3D4E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17526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80050F-6BE5-41C2-82E9-A196E8BB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t-2 frame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비디오에 저장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C68A8B-C7B6-4D37-AE85-9A930816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76850"/>
            <a:ext cx="22098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44B088-FD9B-4DAE-BDC8-313F505D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Human Pose Estimation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데이터에서 피처 추출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B52FFF-5A85-49D4-AEBD-18BBF011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57800"/>
            <a:ext cx="1447800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47E428-C726-422C-9F99-9621BFFD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054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Agent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CA8AE5-B3F4-4F5D-A4B3-6FEFC06C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14950"/>
            <a:ext cx="11811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F95E71-37A3-4D5F-AEEE-256B8898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5054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27DBF8-F85F-4EDA-9641-4E9C3EE2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96000"/>
            <a:ext cx="27051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FFB7A8-DDDE-4C20-A9AC-E71CFC5F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191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prompts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122E1D-23FC-4AD9-8BFF-213DF3F5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381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당신은 러닝 자세 분석 리포트를 작성하는 AI 입니다.   {INSTRUCTION}   {features}</a:t>
            </a:r>
          </a:p>
        </p:txBody>
      </p:sp>
      <p:cxnSp>
        <p:nvCxnSpPr>
          <p:cNvPr id="12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24000" y="3267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448050" y="2695575"/>
            <a:ext cx="10096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2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524500" y="23050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3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524500" y="30099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9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591300" y="2400300"/>
            <a:ext cx="59055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16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8896350" y="2400300"/>
            <a:ext cx="148590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6" name=""/>
          <p:cNvCxnSpPr>
            <a:stCxn xmlns:a="http://schemas.openxmlformats.org/drawingml/2006/main" id="19" idx="2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7829550" y="4267200"/>
            <a:ext cx="25527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127" name=""/>
          <p:cNvCxnSpPr>
            <a:stCxn xmlns:a="http://schemas.openxmlformats.org/drawingml/2006/main" id="43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695575" y="3676650"/>
            <a:ext cx="3381375" cy="10668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128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6953250" y="5067300"/>
            <a:ext cx="3810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9" name="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8096250" y="5600700"/>
            <a:ext cx="6286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0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0172700" y="56007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1" name=""/>
          <p:cNvCxnSpPr>
            <a:stCxn xmlns:a="http://schemas.openxmlformats.org/drawingml/2006/main" id="51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9448800" y="59436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C0D9F0-2AFC-4981-BF82-51C94DD1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t+3 frame load</a:t>
            </a:r>
          </a:p>
        </p:txBody>
      </p:sp>
    </p:spTree>
    <p:extLst>
      <p:ext uri="{BB962C8B-B14F-4D97-AF65-F5344CB8AC3E}">
        <p14:creationId xmlns:p14="http://schemas.microsoft.com/office/powerpoint/2010/main" val="1175429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D6AB7C-A634-4E66-A9AD-3733A66C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41A09-0B20-4882-B589-6F260A11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61100-35F8-4B24-8042-C46EC8EC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네 가지 자세 피처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3689C-5177-46FE-91CD-3479F1F2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245CC-5631-4F72-A601-522C05BE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pose_predictions.json, details.json, user_info.json을 PoseSequence로 묶어 네 가지 피처를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0387F-CAF4-45D0-9221-A7F0A37E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1cf2bc7014962"/>
          <a:stretch xmlns:a="http://schemas.openxmlformats.org/drawingml/2006/main"/>
        </p:blipFill>
        <p:spPr>
          <a:xfrm xmlns:a="http://schemas.openxmlformats.org/drawingml/2006/main">
            <a:off x="863043" y="2057400"/>
            <a:ext cx="1588614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F7568-233C-405D-A58D-00FDBE4C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44EF7-518D-4887-9C34-EBADFD7D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골반 수직 진동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DCABE-3ED2-4929-81C0-0722144A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접지 중 골반 높이 변화 ÷ 신장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E1537-4798-4588-96ED-0674EBE3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d82b01dd144e0"/>
          <a:stretch xmlns:a="http://schemas.openxmlformats.org/drawingml/2006/main"/>
        </p:blipFill>
        <p:spPr>
          <a:xfrm xmlns:a="http://schemas.openxmlformats.org/drawingml/2006/main">
            <a:off x="37404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09AB3-57B8-42A5-ADA3-EBF3F947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F7D32-DF11-4FD2-91C3-CE76D72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팔꿈치 각도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AF2B0-8547-47CD-A1CA-20ED6DD4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한 스트라이드의 각도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F9686-6DF1-4DCF-9324-F4C948B2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1c0906231409a"/>
          <a:stretch xmlns:a="http://schemas.openxmlformats.org/drawingml/2006/main"/>
        </p:blipFill>
        <p:spPr>
          <a:xfrm xmlns:a="http://schemas.openxmlformats.org/drawingml/2006/main">
            <a:off x="661700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36B0A-65F0-49DB-85A5-808E98C4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B2E8B-E438-4820-8211-E4D5B5A1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몸통 굴곡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D2F43-7984-461F-87B8-4D7472E9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어깨 중심과 골반 중심의 기울기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69C3F-038C-4A33-BD40-8AD2F349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da03a7a3440bf"/>
          <a:stretch xmlns:a="http://schemas.openxmlformats.org/drawingml/2006/main"/>
        </p:blipFill>
        <p:spPr>
          <a:xfrm xmlns:a="http://schemas.openxmlformats.org/drawingml/2006/main">
            <a:off x="94935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038F9-885F-4363-AB7F-06683433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16DC0-D22D-4322-B45B-6DA70F61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전방 자세 기울기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59FF3-B4DF-412B-849F-16A3B56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목과 발목을 잇는 선의 각도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B5F712-40AE-42E6-BD17-013C36BB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F9AF3B-E654-4ADB-9327-A8C48394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19825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cal_stride, pixel2m, gct 이후 feature1~4 실행 · feature_results.json 저장</a:t>
            </a:r>
          </a:p>
        </p:txBody>
      </p:sp>
    </p:spTree>
    <p:extLst>
      <p:ext uri="{BB962C8B-B14F-4D97-AF65-F5344CB8AC3E}">
        <p14:creationId xmlns:p14="http://schemas.microsoft.com/office/powerpoint/2010/main" val="7469741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5233A7-BB81-479D-BB11-C7AF61E8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1BBBC-4192-4A92-B541-0FB77EEA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22D58-66B0-4999-B979-99C7E0F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판정 로직과 Coach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A939B-9B7D-4EDA-A41B-30724D07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11ECC-5EDE-421F-A334-274FA332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수치 계산과 문장 생성을 분리해 결과의 근거를 추적할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6112C-AC68-4003-99FC-3B95342F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0E452-4D43-4B1D-966A-5A116550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계산과 구간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17586-21C8-4BEF-92C0-B866DDC4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feature_results.json에 측정값, 기준 구간,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행동 지시, 결과 해석을 구조화해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5C9A9-E57B-4F80-BC56-5D42FB27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1719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641BB-39F5-4763-9C31-406460D6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value,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range 또는 boundary,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instruction, outcome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E38B6-E83B-429C-A69C-56559C93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4개 피처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451E4-5D08-4819-87CD-B5CE43D0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Rule Base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24138-BC20-4EB8-9E5A-BE6D6082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EC0C2-5012-4536-944B-BD8163A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LANGCHAIN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61839-1749-48D3-A8E9-E9DB4E3A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gpt-5-nano가 리포트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41A5E-9C60-4989-BB1A-DBF5C685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현재 Coach 코드는 feature_results.json만 모델에 전달합니다.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모델은 수치를 다시 계산하지 않고 설명 문장을 작성합니다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C87F9-0D2D-49BB-933A-C766B362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775CD-2E76-4A1B-AA18-9B18D60A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5C3C1-9C37-4CCF-9190-C5142E08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B3C7D-0E38-4490-BE46-1320029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9EFDD-5890-499B-B041-21DF2122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AC7DE-30C6-49E4-BB62-DF201396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2E631-2658-4260-B4AE-485DD489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1600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F049C-068E-4AFE-8D83-4EC68E17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1409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PERSONA + INSTRUCTION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4E144-C82C-4BD8-9884-4EFF9018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13906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9D405-24BB-45CF-85D9-66D2AC78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15D29-47B1-43FD-9A27-25AE18F4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38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6285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1550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2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915400" y="38671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6D3456-650E-4422-8368-DB5B15E1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569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02F52F-0044-4378-AD65-6E2D4319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0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 Coach 구현 모델  gpt-5-nano · 기존 PPT의 모델 표기를 코드 기준으로 업데이트</a:t>
            </a:r>
          </a:p>
        </p:txBody>
      </p:sp>
    </p:spTree>
    <p:extLst>
      <p:ext uri="{BB962C8B-B14F-4D97-AF65-F5344CB8AC3E}">
        <p14:creationId xmlns:p14="http://schemas.microsoft.com/office/powerpoint/2010/main" val="20062654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8CD8D60-2600-4947-AF1F-2824C6AE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6210D-ECF6-44AC-BE47-33D32AE3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12B1C-1DF7-4191-8E32-232C92F6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 피드 영상 분석 서비스 기술 아키텍처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C0670-C5B2-4CF3-A52A-7F190C4C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EE119-97DB-4837-B402-DFF9F480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71600"/>
            <a:ext cx="11811000" cy="4038600"/>
          </a:xfrm>
          <a:prstGeom xmlns:a="http://schemas.openxmlformats.org/drawingml/2006/main" prst="roundRect">
            <a:avLst>
              <a:gd name="adj" fmla="val 188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9960A-8505-492D-82F8-787FA815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1466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 피드 서비스 영역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DE6E6-33F5-4F23-9BE9-E5519150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0"/>
            <a:ext cx="1428750" cy="36385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316C1-062F-4BD2-BB41-D52B9A97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사용자 / 외부 네트워크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B4A22-5BA2-4206-9247-CB7CBC6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19250"/>
            <a:ext cx="7981950" cy="3638550"/>
          </a:xfrm>
          <a:prstGeom xmlns:a="http://schemas.openxmlformats.org/drawingml/2006/main" prst="roundRect">
            <a:avLst>
              <a:gd name="adj" fmla="val 20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D4D37-6D3E-4F3D-9CD5-A6E1A1E9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09750"/>
            <a:ext cx="7639050" cy="1562100"/>
          </a:xfrm>
          <a:prstGeom xmlns:a="http://schemas.openxmlformats.org/drawingml/2006/main" prst="roundRect">
            <a:avLst>
              <a:gd name="adj" fmla="val 48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9482E-579C-4BDF-985C-E9C22A67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145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웹 · API 계층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5D574-2201-43DC-8337-B75B6A28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46863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A89FE-3FA3-4638-A1B2-BB7A49A4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비동기 추론 파이프라인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8A108-7EAB-479F-A584-4D3C95D3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96215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6932C-AA1C-427E-BAE7-13EADF6A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866900" cy="3638550"/>
          </a:xfrm>
          <a:prstGeom xmlns:a="http://schemas.openxmlformats.org/drawingml/2006/main" prst="roundRect">
            <a:avLst>
              <a:gd name="adj" fmla="val 40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6E863-DF2C-4DAE-82FB-853421BC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 · 결과 저장소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F1F31-098D-482F-A440-F070EF63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8953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C3804-19E5-49B9-B842-C65794D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MP4 선택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+ 분석 이름 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7D8D6-D555-4E95-A722-110E614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97155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B8E34-4D1D-4A55-8EE0-795E196F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Browser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A20CA-CEDF-436B-97DB-25354311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76450"/>
            <a:ext cx="1295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25AD6-FD4D-446A-8D88-FFDDCAA9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574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NEXT.js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73020-8667-438E-AFA2-CBF9A0B7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52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Next.js 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76F342-B712-4078-81B4-D1AD7255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1066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081FC-A10F-4BB9-ACC0-5595AEF6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6164D-8482-44B5-8254-30D02508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8D79E-4460-42E6-B997-DBF9C44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390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23CBB-72CC-471F-8CD2-E48E7F66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FastAPI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AAB07-B995-4A4E-8E26-949C113B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BC1EAF-3704-4E9A-A2DE-05A31A39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38600"/>
            <a:ext cx="990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71E7F0-AA92-4364-AFAD-0C15CF06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767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2A5717-50C7-4CDF-860E-D73CB75A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914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BCB95D-F3D6-4064-A9B2-5E8C69C0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767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01F073-7A51-49C0-819D-932E9E16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38600"/>
            <a:ext cx="914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7E9D4D-F360-41AE-BFA9-94D6A5E7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767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Celery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E081E8-B899-4656-8683-F49D02E5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86200"/>
            <a:ext cx="762000" cy="10096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48ED5E-8567-401E-991E-A44CD591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Inference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ADE063-B8E8-4A8B-B629-262F8791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450580-D8C4-4A92-8B9E-2ECBE029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ED0D51-009D-40C1-BC41-974F4A47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15-1. OpenCV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CB79FA-5399-417A-9236-E1E5B5F1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52875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EFB880-74D3-4A99-B2A9-2B234D4F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90975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15-2. RTMPose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CEE3D3-4B13-4C9C-BFDB-2F52F60A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A6B367-F53D-49DE-8F27-64E5E21C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15-3. Metrics &amp; 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06C8C8-6E5B-48E6-923B-7FAEA7C2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91025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B0CCB9-C888-4FC0-850C-CF181378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29125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15-4. Ollama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98C433-849D-4D75-90AD-39E0514C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10100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E59F43-1883-4278-94DE-02576142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15-5. Joint Overlay Renderer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0A3AF2-6C70-4989-A2D2-97C998B7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29175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5812A2-44FD-4CC1-8F7D-B0EB58E6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67275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15-6. Result Packager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14A57B-14F0-4DAD-B2A5-091E0703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57400"/>
            <a:ext cx="1485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66D832-549F-4A17-B01E-779A5481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574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Raw Bucket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AB657E-4B70-40E0-B26C-9D415F91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81275"/>
            <a:ext cx="125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OCI Object Storage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1D9346-D711-4FAD-B6CD-C399A38C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14800"/>
            <a:ext cx="1485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DBCBB1-EC78-4B94-B4B7-97F974CA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243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D307A9-3A36-4268-9A23-E2F45242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67250"/>
            <a:ext cx="125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OCI Object Storage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F2CDF4-6086-4E0B-BB28-189EF88C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EA449B-7E41-4B94-809A-2F663BFF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72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81075" y="2667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5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1466850" y="2419350"/>
            <a:ext cx="80010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6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562350" y="24193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7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391150" y="24193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8" name=""/>
          <p:cNvCxnSpPr>
            <a:stCxn xmlns:a="http://schemas.openxmlformats.org/drawingml/2006/main" id="27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562850" y="2419350"/>
            <a:ext cx="26289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9" name=""/>
          <p:cNvCxnSpPr>
            <a:stCxn xmlns:a="http://schemas.openxmlformats.org/drawingml/2006/main" id="21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2914650" y="2419350"/>
            <a:ext cx="3257550" cy="3429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90" name=""/>
          <p:cNvCxnSpPr>
            <a:stCxn xmlns:a="http://schemas.openxmlformats.org/drawingml/2006/main" id="21" idx="2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2914650" y="2762250"/>
            <a:ext cx="3952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1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3505200" y="2762250"/>
            <a:ext cx="3362325" cy="1276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2" name=""/>
          <p:cNvCxnSpPr>
            <a:stCxn xmlns:a="http://schemas.openxmlformats.org/drawingml/2006/main" id="27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 flipH="1">
            <a:off x="5905500" y="2762250"/>
            <a:ext cx="962025" cy="1276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3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000500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4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181600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5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362700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6" name=""/>
          <p:cNvCxnSpPr>
            <a:stCxn xmlns:a="http://schemas.openxmlformats.org/drawingml/2006/main" id="27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6867525" y="2762250"/>
            <a:ext cx="142875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7" name=""/>
          <p:cNvCxnSpPr>
            <a:stCxn xmlns:a="http://schemas.openxmlformats.org/drawingml/2006/main" id="51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7010400" y="2933700"/>
            <a:ext cx="392430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98" name=""/>
          <p:cNvCxnSpPr>
            <a:stCxn xmlns:a="http://schemas.openxmlformats.org/drawingml/2006/main" id="36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7391400" y="3824288"/>
            <a:ext cx="342900" cy="5667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9" name=""/>
          <p:cNvCxnSpPr>
            <a:stCxn xmlns:a="http://schemas.openxmlformats.org/drawingml/2006/main" id="39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8601075" y="3914775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0" name=""/>
          <p:cNvCxnSpPr>
            <a:stCxn xmlns:a="http://schemas.openxmlformats.org/drawingml/2006/main" id="41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8601075" y="4133850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1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601075" y="4352925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cxnSp>
        <p:nvCxnSpPr>
          <p:cNvPr id="202" name=""/>
          <p:cNvCxnSpPr>
            <a:stCxn xmlns:a="http://schemas.openxmlformats.org/drawingml/2006/main" id="45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8601075" y="4572000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3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8601075" y="4791075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4" name=""/>
          <p:cNvCxnSpPr>
            <a:stCxn xmlns:a="http://schemas.openxmlformats.org/drawingml/2006/main" id="4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9467850" y="4581525"/>
            <a:ext cx="723900" cy="3381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205" name=""/>
          <p:cNvCxnSpPr>
            <a:stCxn xmlns:a="http://schemas.openxmlformats.org/drawingml/2006/main" id="36" idx="2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H="1" flipV="1">
            <a:off x="3505200" y="4743450"/>
            <a:ext cx="3505200" cy="152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6" name=""/>
          <p:cNvCxnSpPr>
            <a:stCxn xmlns:a="http://schemas.openxmlformats.org/drawingml/2006/main" id="27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7562850" y="2419350"/>
            <a:ext cx="21717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</a:ln>
        </p:spPr>
      </p:cxnSp>
      <p:cxnSp>
        <p:nvCxnSpPr>
          <p:cNvPr id="207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9744075" y="3048000"/>
            <a:ext cx="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</a:ln>
        </p:spPr>
      </p:cxnSp>
      <p:cxnSp>
        <p:nvCxnSpPr>
          <p:cNvPr id="208" name=""/>
          <p:cNvCxnSpPr>
            <a:stCxn xmlns:a="http://schemas.openxmlformats.org/drawingml/2006/main" id="58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9753600" y="45815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9" name=""/>
          <p:cNvCxnSpPr>
            <a:stCxn xmlns:a="http://schemas.openxmlformats.org/drawingml/2006/main" id="19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981075" y="2419350"/>
            <a:ext cx="5191125" cy="11620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10" name=""/>
          <p:cNvCxnSpPr>
            <a:stCxn xmlns:a="http://schemas.openxmlformats.org/drawingml/2006/main" id="27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1466850" y="2762250"/>
            <a:ext cx="5400675" cy="5238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3EDD5A2-F4D1-4FEA-B4D4-C2A55FB9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/api/uploads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CAF5F53-2D89-4D2C-8C33-73B0A640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28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X-API-Key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EA85BB7-D5EB-4DE8-9E49-E6E14DD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5. 임시 업로드 URL 생성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9FB71CC-0590-45A7-9707-CC1DECA0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2971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6. PUT video/mp4 (직접 업로드)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32A40A6-EF63-4C1A-A9C3-F7CBFA75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2114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7. POST /uploads/complete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92A4730-E460-44C4-AE27-887FE166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1771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8. HEAD / size / type 검증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D82EF2-9909-4021-8D50-796DF5FF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57550"/>
            <a:ext cx="1466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9. POST /jobs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289B01C-9570-40E0-BDF7-98F27E27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1000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10. Job INSERT · QUEUED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0B8C32E-B31A-4D73-8EA4-8C92C364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1257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11. 추론 작업 발행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B365186-544A-4BA9-AD64-95A39D8F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12. 작업 전달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B06F3D-B66D-48EB-9EB6-1A8A1ACD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76800"/>
            <a:ext cx="1200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13. PROCESSING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EE810F9-8C8E-437F-921D-E5AC6A22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1390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14. input.mp4 다운로드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59F92A4-D6AC-4D28-B4BE-88349709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95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16. JSON ×3 + MP4 업로드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BA82C8B-0F7D-4690-90A0-FDAADFDF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67300"/>
            <a:ext cx="1619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17. SUCCESS + object names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1B7FA7-9373-4925-B8D9-D2EA0DA6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81500"/>
            <a:ext cx="876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1BF660A-AD7B-4070-B67F-42956574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57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2.5초 폴링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최대 1시간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F5903EF-2063-4910-9521-E936A349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18. GET /jobs/{job_id} 폴링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59D0DDC-6A86-4549-A226-1E7A644F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19. 임시 결과 URL 제공 + 리포트 읽기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F6A4466-DF25-45EE-93BC-A6F88944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20. 결과 영상 + 측정·근거·AI 해설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809E2F7-2108-42AB-A940-A7929C56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19750"/>
            <a:ext cx="4686300" cy="914400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3536C0D-09A6-4375-931F-7C8DBF7B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8640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관찰 가능성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3819F27-75D5-4F98-BFD5-41FDA4BF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768733E-F921-4EB3-965D-73D51E31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8DF3121-5CB8-4039-B232-BB44E54A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4C76411-FDD8-4578-B0DE-E1321288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8F19EC1-927B-49F9-9597-9FDC12E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043FE38-5992-444E-97E2-D9A61670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9BE4175-C948-4077-8982-8469BC3C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26BC0E6-6C43-4FEB-926E-911393F9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053433D-9C1A-4151-A0EF-C181D911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81783FE-6BA9-4A0F-A852-C6E2F79B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알림 (실패)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24B7F87-161F-481D-B080-DD093282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7690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4C84B"/>
            </a:solidFill>
            <a:prstDash val="dash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9D05F36-C0AF-4B4E-98B8-E4DBD40C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6260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7771D26-382D-4099-8551-9B7949DF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9245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Ollama AI 내러티브 생성 (선택)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295D153-F7FE-4E40-B6DE-D2ABA691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912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7F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9493E0E-0F6F-4066-B9EE-4E23E1C0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72452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/ 제어 흐름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C1D7895-10F2-415A-9B40-44C3C692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057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D9D0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B8336D3-9418-4828-BFBB-FCB365FA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991225"/>
            <a:ext cx="1028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영상 / 결과 데이터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25835C8-3DBD-43ED-8596-F0151A0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3246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84B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7031845-1D30-4CF4-922B-4DA20709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25792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</a:t>
            </a:r>
          </a:p>
        </p:txBody>
      </p:sp>
    </p:spTree>
    <p:extLst>
      <p:ext uri="{BB962C8B-B14F-4D97-AF65-F5344CB8AC3E}">
        <p14:creationId xmlns:p14="http://schemas.microsoft.com/office/powerpoint/2010/main" val="1094327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3B1578-B612-4E05-BCE0-D8401C9F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D18FE-7599-4F5F-9D02-96186BB6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DCD5D-8C6E-47A3-8E40-2615BFF0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분석 Worker와 결과 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92C7F-96CC-4041-8FAB-24E1CA07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E3880-CECE-4B9E-A695-725867DD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GPU Worker가 분석 산출물을 패키징하고, 결과 URL과 리포트를 API로 돌려줍니다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6071F-E26D-4716-96B3-5956C9B7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 INFERENCE 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C0403-B780-4572-8396-82D1AEB9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5341D-896C-4ACF-9E00-5D825C86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55523-0463-4802-B305-F54A87E2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3ADE4-5131-49DF-A0B3-282954D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F7F7C-AA1D-4AC2-9045-37B3341B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60994-9106-41E8-979D-AC20A24A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FDF58-8803-46CA-8D99-6E95A490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DF2B7-2B06-46EA-B999-D25A6BC2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02169-A359-46A1-A17D-5AC1D9BF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71FC1-C9DF-4844-A09F-06DB3E8A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001EC-AADF-4536-AC3E-7076069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Metrics &amp;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E9AA2-BF22-40BA-9B40-5B08A03A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피처 · 근거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4F3BD-16B0-4CE1-B5BA-48E0AF05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88CA1-5599-4C05-BFB4-6CC4B9E4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C535B-DDBA-4196-8DE8-B0B34C3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Joint Overlay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F147B-5FD9-4E26-97B5-2D728460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결과 영상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D4086-47B7-4D39-AA36-67C4ADD4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FC7DF-3A79-458D-BBAC-ABE9527E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C9B74-5110-4A4D-8C6C-8453D59A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Result Packager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EBA828-0438-4B09-B085-B14AFD88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×3 + MP4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9075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434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487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893D4-5959-45E5-9434-B20FFA1C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228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ADC4C6-3073-4686-9450-54F35B18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B6162-7688-497B-801F-8AFB9A19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Ollama AI narrative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0D132C-CD5F-4904-ABCA-EA56A5DA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 · Metrics 이후 실행</a:t>
            </a:r>
          </a:p>
        </p:txBody>
      </p:sp>
      <p:cxnSp>
        <p:nvCxnSpPr>
          <p:cNvPr id="86" name=""/>
          <p:cNvCxnSpPr>
            <a:stCxn xmlns:a="http://schemas.openxmlformats.org/drawingml/2006/main" id="1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600700" y="3314700"/>
            <a:ext cx="6286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30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7372350" y="3314700"/>
            <a:ext cx="381000" cy="5905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D4DB10-C6B9-4BEE-A415-F6563DDD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43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4394C7-9EF9-405C-B40B-2145B2E4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RESULT DELIVERY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8C1945-DD84-49EA-B575-DBB93D6D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E554D2-0119-4E6A-A74A-7496A982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3개와 MP4 업로드 → FastAPI가 임시 결과 URL과 리포트 제공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5889BC-AEA4-4209-9BD3-33CAFAE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52950"/>
            <a:ext cx="57912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339747-E16F-48B4-BFAE-897C260C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OBSERVABILITY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BEF4CC-C08E-41D6-BA8A-E7F560D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73BBAB-92BF-4B91-B452-DE4E7828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0A9FE4-F2A9-4DB3-83A4-BAC3F243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1EBBB0-25B4-4DBB-BEAD-79DE640D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CA2FB2-7122-468A-8B43-63643777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E5D7D4-5AE6-4ED9-AF7C-B99937B0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4E6423-E126-4FD8-B630-9E348051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D88AD0-04DF-4531-99E9-C88A9AC8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73932A-C907-429E-AC3C-D96F5D0E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615D1E-14E3-4E64-975B-E80F2946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272865-5B56-4FAD-BE42-C551056A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 상태는 PostgreSQL에 PROCESSING → SUCCESS와 object name으로 기록</a:t>
            </a:r>
          </a:p>
        </p:txBody>
      </p:sp>
    </p:spTree>
    <p:extLst>
      <p:ext uri="{BB962C8B-B14F-4D97-AF65-F5344CB8AC3E}">
        <p14:creationId xmlns:p14="http://schemas.microsoft.com/office/powerpoint/2010/main" val="3820397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01CFD-DDE8-414F-B4BD-1246C808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431C4-C525-488D-9AA9-CFD0478B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216A8-F0F4-4CF8-845E-26F96DC6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러닝 영상을 자세 데이터로 바꾸고,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9FF14-060D-4046-A7C8-DCA88E7A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측정값과 개선 피드백을 하나의 리포트로 연결했습니다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D6294-B4B0-4DDC-A5E7-ADCF4D78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4D125-1C75-4A4B-9D57-23753621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기반 관절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56C28-973E-4DCC-AC8C-F1812DF2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논문 기반 피처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B746D-1E9C-4E3F-BF97-EBB7086C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이해할 수 있는 리포트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B811A-E726-4872-90E5-4EB5A2F2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82E56-0DBA-44CD-A421-C5A7E9D9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30101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2026-09-09T01:33:05.9920000Z</dcterms:created>
  <dcterms:modified xsi:type="dcterms:W3CDTF">2026-09-09T01:33:05.9920000Z</dcterms:modified>
</coreProperties>
</file>