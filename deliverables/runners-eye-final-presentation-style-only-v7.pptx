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bf873f759b4653" /><Relationship Type="http://schemas.openxmlformats.org/officeDocument/2006/relationships/extended-properties" Target="/docProps/app.xml" Id="R43cfc89f1b21493f" /><Relationship Type="http://schemas.openxmlformats.org/officeDocument/2006/relationships/officeDocument" Target="/ppt/presentation.xml" Id="R7681410a66ea49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4da31286784d33"/>
  </p:sldMasterIdLst>
  <p:notesMasterIdLst>
    <p:notesMasterId xmlns:r="http://schemas.openxmlformats.org/officeDocument/2006/relationships" r:id="Rd2f77f238ad5475b"/>
  </p:notesMasterIdLst>
  <p:sldIdLst>
    <p:sldId xmlns:r="http://schemas.openxmlformats.org/officeDocument/2006/relationships" id="256" r:id="Rda82a0445f30429d"/>
    <p:sldId xmlns:r="http://schemas.openxmlformats.org/officeDocument/2006/relationships" id="257" r:id="R25dcef8db8284fbf"/>
    <p:sldId xmlns:r="http://schemas.openxmlformats.org/officeDocument/2006/relationships" id="258" r:id="R2c0e2effdf134a84"/>
    <p:sldId xmlns:r="http://schemas.openxmlformats.org/officeDocument/2006/relationships" id="259" r:id="R3af6fc7a83914817"/>
    <p:sldId xmlns:r="http://schemas.openxmlformats.org/officeDocument/2006/relationships" id="260" r:id="R147490a527aa4acd"/>
    <p:sldId xmlns:r="http://schemas.openxmlformats.org/officeDocument/2006/relationships" id="261" r:id="R46bdb67b7bfc47bb"/>
    <p:sldId xmlns:r="http://schemas.openxmlformats.org/officeDocument/2006/relationships" id="262" r:id="R99d76ae1302546e9"/>
    <p:sldId xmlns:r="http://schemas.openxmlformats.org/officeDocument/2006/relationships" id="263" r:id="Rf6b90be5461940cc"/>
    <p:sldId xmlns:r="http://schemas.openxmlformats.org/officeDocument/2006/relationships" id="264" r:id="Rafb1ab379dbb4aba"/>
    <p:sldId xmlns:r="http://schemas.openxmlformats.org/officeDocument/2006/relationships" id="265" r:id="Rea9e4f904f2a4321"/>
    <p:sldId xmlns:r="http://schemas.openxmlformats.org/officeDocument/2006/relationships" id="266" r:id="R943afb87a3164d65"/>
    <p:sldId xmlns:r="http://schemas.openxmlformats.org/officeDocument/2006/relationships" id="267" r:id="R0b5e08732e9f40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2b6f0634d54017" /><Relationship Type="http://schemas.openxmlformats.org/officeDocument/2006/relationships/slideMaster" Target="/ppt/slideMasters/slideMaster1.xml" Id="R6f4da31286784d33" /><Relationship Type="http://schemas.openxmlformats.org/officeDocument/2006/relationships/notesMaster" Target="/ppt/notesMasters/notesMaster1.xml" Id="Rd2f77f238ad5475b" /><Relationship Type="http://schemas.openxmlformats.org/officeDocument/2006/relationships/presProps" Target="/ppt/presProps.xml" Id="Re0f3758615d74270" /><Relationship Type="http://schemas.openxmlformats.org/officeDocument/2006/relationships/tableStyles" Target="/ppt/tableStyles.xml" Id="R69cce2a881ea40f2" /><Relationship Type="http://schemas.openxmlformats.org/officeDocument/2006/relationships/slide" Target="/ppt/slides/slide1.xml" Id="Rda82a0445f30429d" /><Relationship Type="http://schemas.openxmlformats.org/officeDocument/2006/relationships/slide" Target="/ppt/slides/slide2.xml" Id="R25dcef8db8284fbf" /><Relationship Type="http://schemas.openxmlformats.org/officeDocument/2006/relationships/slide" Target="/ppt/slides/slide3.xml" Id="R2c0e2effdf134a84" /><Relationship Type="http://schemas.openxmlformats.org/officeDocument/2006/relationships/slide" Target="/ppt/slides/slide4.xml" Id="R3af6fc7a83914817" /><Relationship Type="http://schemas.openxmlformats.org/officeDocument/2006/relationships/slide" Target="/ppt/slides/slide5.xml" Id="R147490a527aa4acd" /><Relationship Type="http://schemas.openxmlformats.org/officeDocument/2006/relationships/slide" Target="/ppt/slides/slide6.xml" Id="R46bdb67b7bfc47bb" /><Relationship Type="http://schemas.openxmlformats.org/officeDocument/2006/relationships/slide" Target="/ppt/slides/slide7.xml" Id="R99d76ae1302546e9" /><Relationship Type="http://schemas.openxmlformats.org/officeDocument/2006/relationships/slide" Target="/ppt/slides/slide8.xml" Id="Rf6b90be5461940cc" /><Relationship Type="http://schemas.openxmlformats.org/officeDocument/2006/relationships/slide" Target="/ppt/slides/slide9.xml" Id="Rafb1ab379dbb4aba" /><Relationship Type="http://schemas.openxmlformats.org/officeDocument/2006/relationships/slide" Target="/ppt/slides/slide10.xml" Id="Rea9e4f904f2a4321" /><Relationship Type="http://schemas.openxmlformats.org/officeDocument/2006/relationships/slide" Target="/ppt/slides/slide11.xml" Id="R943afb87a3164d65" /><Relationship Type="http://schemas.openxmlformats.org/officeDocument/2006/relationships/slide" Target="/ppt/slides/slide12.xml" Id="R0b5e08732e9f40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d539ff8147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bffcac1ded47c7" /><Relationship Type="http://schemas.openxmlformats.org/officeDocument/2006/relationships/notesMaster" Target="/ppt/notesMasters/notesMaster1.xml" Id="Raf387336992248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910e1ec498451f" /><Relationship Type="http://schemas.openxmlformats.org/officeDocument/2006/relationships/notesMaster" Target="/ppt/notesMasters/notesMaster1.xml" Id="Rfded06ca5ff04a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e4c2a48d424732" /><Relationship Type="http://schemas.openxmlformats.org/officeDocument/2006/relationships/notesMaster" Target="/ppt/notesMasters/notesMaster1.xml" Id="Ra6f3a4e69d7541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472cf55044aa4" /><Relationship Type="http://schemas.openxmlformats.org/officeDocument/2006/relationships/notesMaster" Target="/ppt/notesMasters/notesMaster1.xml" Id="R9021e65a91d24f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d063d1f9dc478e" /><Relationship Type="http://schemas.openxmlformats.org/officeDocument/2006/relationships/notesMaster" Target="/ppt/notesMasters/notesMaster1.xml" Id="R77a5109776074b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01793964634e30" /><Relationship Type="http://schemas.openxmlformats.org/officeDocument/2006/relationships/notesMaster" Target="/ppt/notesMasters/notesMaster1.xml" Id="Rb1c7e37584c542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aecf289d344017" /><Relationship Type="http://schemas.openxmlformats.org/officeDocument/2006/relationships/notesMaster" Target="/ppt/notesMasters/notesMaster1.xml" Id="R46bf1b3789b443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33542bb5fa446b" /><Relationship Type="http://schemas.openxmlformats.org/officeDocument/2006/relationships/notesMaster" Target="/ppt/notesMasters/notesMaster1.xml" Id="Rb9949e92531548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c3618d0548430d" /><Relationship Type="http://schemas.openxmlformats.org/officeDocument/2006/relationships/notesMaster" Target="/ppt/notesMasters/notesMaster1.xml" Id="R9a71b9de18ca42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e4433dd6f8429e" /><Relationship Type="http://schemas.openxmlformats.org/officeDocument/2006/relationships/notesMaster" Target="/ppt/notesMasters/notesMaster1.xml" Id="R55828211deeb40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ec71883d284935" /><Relationship Type="http://schemas.openxmlformats.org/officeDocument/2006/relationships/notesMaster" Target="/ppt/notesMasters/notesMaster1.xml" Id="Rd5e7d9cc9b5c4c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4f9bbef36540d5" /><Relationship Type="http://schemas.openxmlformats.org/officeDocument/2006/relationships/notesMaster" Target="/ppt/notesMasters/notesMaster1.xml" Id="R4e427ebbf2a742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서비스 이름과 한 문장 설명만 전달한다. Source: 기존 발표자료 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역할 정보는 제공 자료에 없어 빈칸으로 유지한다. 발표 전 담당 업무를 한 줄씩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Source: 기존 발표자료 4~7장과 앱 화면 이미지. 진단 서비스가 아니라 러닝 자세 분석 및 피드백 서비스로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시연 영상 파일이 제공되지 않아 교체 가능한 영상 영역으로 구성했다. 현재 포스터는 Coach/run/test12/outputs/output.mp4의 대표 프레임이다.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Coach/scripts/main.sh, Coach/scripts/hpe/hpe.sh, Coach/scripts/features/features.sh, Coach/scripts/Agent/agent.sh. 세 단계는 동기적으로 순차 실행하며 각 산출물 파일을 다음 단계가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Coach/scripts/hpe/hpe.py, Coach/scripts/hpe/pose_track.py. detector는 RTMDet-nano, pose는 RTMPose-M Halpe-26, backend는 ONNX Runtime이다.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사용자 제공 codex-clipboard-2ed76b86-2e47-4cdc-b27d-c352b1b25716.png. 내용, 객체 위치, 보간 그래프, 화살표 방향과 연결 관계는 변경하지 않고 선·배경·폰트·강조색만 발표자료 스타일로 변경했다.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Coach/scripts/features/feature_extract.py, Coach/scripts/features/utils.py. 네 함수 feature1~feature4와 PoseSequence의 cal_stride, gct, pixel2m을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Coach/scripts/Agent/Running_coach.py, Coach/scripts/Agent/prompts.py. 현재 모델명은 gpt-5-nano이며 feature_results.json을 입력으로 running_report.md를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사용자 제공 codex-clipboard-681490a5-34db-4f1f-b879-3fff821df989.png. 원본의 영역 중첩, 객체 위치, 5~20번 흐름, 방향, 저장소, 관찰 가능성, 선택 기능을 유지하고 선·배경·폰트·강조색만 발표자료 스타일로 변경했다.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Ollama는 원본 구조도에서 선택 기능이다. 현재 Coach 코드의 리포트 에이전트는 앞 슬라이드처럼 LangChain + gpt-5-nano이며, 두 구현을 동일 구성요소로 오해하지 않도록 분리해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핵심 문장을 읽고 Q&amp;A로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6bec0758744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149a62c7bd4552" /><Relationship Type="http://schemas.openxmlformats.org/officeDocument/2006/relationships/slideLayout" Target="/ppt/slideLayouts/slideLayout1.xml" Id="Rfe1f74748a4745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1f74748a4745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5e96cbb90416b" /><Relationship Type="http://schemas.openxmlformats.org/officeDocument/2006/relationships/image" Target="/ppt/media/image.png" Id="Rc6ab1534f95e413f" /><Relationship Type="http://schemas.openxmlformats.org/officeDocument/2006/relationships/notesSlide" Target="/ppt/notesSlides/notesSlide1.xml" Id="Rb909b003f9024c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0006d5cb24c72" /><Relationship Type="http://schemas.openxmlformats.org/officeDocument/2006/relationships/notesSlide" Target="/ppt/notesSlides/notesSlide2.xml" Id="R6242b8cb70a84d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fb416da6e402e" /><Relationship Type="http://schemas.openxmlformats.org/officeDocument/2006/relationships/image" Target="/ppt/media/image2.png" Id="R2e298728b06f4a1e" /><Relationship Type="http://schemas.openxmlformats.org/officeDocument/2006/relationships/image" Target="/ppt/media/image3.png" Id="R3bb929dea10e442e" /><Relationship Type="http://schemas.openxmlformats.org/officeDocument/2006/relationships/notesSlide" Target="/ppt/notesSlides/notesSlide3.xml" Id="R3840bc9fd1aa42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fde70a2554d88" /><Relationship Type="http://schemas.openxmlformats.org/officeDocument/2006/relationships/image" Target="/ppt/media/image4.png" Id="R2d16c48d0b824ee0" /><Relationship Type="http://schemas.openxmlformats.org/officeDocument/2006/relationships/notesSlide" Target="/ppt/notesSlides/notesSlide4.xml" Id="R0ede5f5edf7d4d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0b4dbe88b4954" /><Relationship Type="http://schemas.openxmlformats.org/officeDocument/2006/relationships/notesSlide" Target="/ppt/notesSlides/notesSlide5.xml" Id="R827e0a0a80bf41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79b843f7947c6" /><Relationship Type="http://schemas.openxmlformats.org/officeDocument/2006/relationships/image" Target="/ppt/media/image5.png" Id="R3ab686529a8248ca" /><Relationship Type="http://schemas.openxmlformats.org/officeDocument/2006/relationships/notesSlide" Target="/ppt/notesSlides/notesSlide6.xml" Id="R7298339550544f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6924f9e9f4501" /><Relationship Type="http://schemas.openxmlformats.org/officeDocument/2006/relationships/notesSlide" Target="/ppt/notesSlides/notesSlide7.xml" Id="R19d659ed06b947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7a7d3ff7d4bcc" /><Relationship Type="http://schemas.openxmlformats.org/officeDocument/2006/relationships/image" Target="/ppt/media/image6.png" Id="Rf46e557f67d940fc" /><Relationship Type="http://schemas.openxmlformats.org/officeDocument/2006/relationships/image" Target="/ppt/media/image7.png" Id="R4745db975096455c" /><Relationship Type="http://schemas.openxmlformats.org/officeDocument/2006/relationships/image" Target="/ppt/media/image8.png" Id="Raa048f81e163475a" /><Relationship Type="http://schemas.openxmlformats.org/officeDocument/2006/relationships/image" Target="/ppt/media/image9.png" Id="Ra75efa7c0644493c" /><Relationship Type="http://schemas.openxmlformats.org/officeDocument/2006/relationships/notesSlide" Target="/ppt/notesSlides/notesSlide8.xml" Id="Rdc4470ccd15144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f58b8dae84550" /><Relationship Type="http://schemas.openxmlformats.org/officeDocument/2006/relationships/notesSlide" Target="/ppt/notesSlides/notesSlide9.xml" Id="Rda914ca23ee44e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1a71e065f480a" /><Relationship Type="http://schemas.openxmlformats.org/officeDocument/2006/relationships/notesSlide" Target="/ppt/notesSlides/notesSlide10.xml" Id="R8986ce1bf44247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f76b09f7e4b56" /><Relationship Type="http://schemas.openxmlformats.org/officeDocument/2006/relationships/notesSlide" Target="/ppt/notesSlides/notesSlide11.xml" Id="R27fb6a24ad344b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8967e343e43c2" /><Relationship Type="http://schemas.openxmlformats.org/officeDocument/2006/relationships/notesSlide" Target="/ppt/notesSlides/notesSlide12.xml" Id="Rc3d7f0d2036e4f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AD8DB-88D8-4AA9-A9F4-4360E560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405E-D62E-42AE-BFD6-CBB29B19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77223-63BC-4DCF-8C36-7C686522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달리는 순간,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3D1F3-48BC-4F01-8DE4-0C0131B8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영상을 자세 데이터와 실행 가능한 피드백으로 바꾸는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A7756-C20F-4A0C-8608-AA6A353C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8F506-0E96-42CB-B1A1-2236B55D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테무 꽃보다 남자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8F55C-D1AC-4529-8DF8-27CF24FD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박재혁   정승인   정세현   박주환   유한나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B8AE0-2A34-4C8B-8522-001AE721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42950"/>
            <a:ext cx="2686050" cy="54102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b1534f95e413f"/>
          <a:stretch xmlns:a="http://schemas.openxmlformats.org/drawingml/2006/main"/>
        </p:blipFill>
        <p:spPr>
          <a:xfrm xmlns:a="http://schemas.openxmlformats.org/drawingml/2006/main">
            <a:off x="8648700" y="1016418"/>
            <a:ext cx="2171700" cy="48251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89D9D-4EB1-4B17-ACCA-37DAE6B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RUNNERS EYE</a:t>
            </a:r>
          </a:p>
        </p:txBody>
      </p:sp>
    </p:spTree>
    <p:extLst>
      <p:ext uri="{BB962C8B-B14F-4D97-AF65-F5344CB8AC3E}">
        <p14:creationId xmlns:p14="http://schemas.microsoft.com/office/powerpoint/2010/main" val="207289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D0205-FA90-48D7-8EA7-1A20633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 ·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04719-A222-4F31-849E-B10B133D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32288-EAE4-4140-9FAB-C0FB57F2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5FAB8-8DFB-4DBD-B066-B26B31AD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09C14-10D5-4286-B9DC-4B1CB18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발표 전 각 담당 영역을 입력할 수 있도록 역할 칸을 비워 두었습니다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D4C2F-5F02-4B91-9D6B-96FC08FE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F8FF0-C1D3-4273-BAEA-DA9620BE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박재혁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994FB-08EC-44B3-B62E-E7DACA40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AE367-1E38-4FEE-A03F-C913B79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5082E-1CF2-4695-B8EE-6416AAF9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19767-06B2-42FB-B59E-7F129599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456B9-2D72-48C1-BA61-7E6D7821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28D4A-CA1E-4437-8F7C-EF1A4FDD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CF493-C0B9-439D-AEF1-A8A88A82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A16FF-625E-4F54-A150-43768AD1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정세현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5F36B-0404-46B3-A190-C525DFB2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B3809-B9C8-48F8-AEBE-6BB2326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5887B-CAFB-4E4B-A2E2-455994FC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8703C-8A56-40E8-B791-168E2D43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박주환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455E81-7D8E-4643-BB99-5A22DF8D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C457C-0E6D-45C4-841A-CBBB8A85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E2B9F-2097-4E18-8A94-53045B69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A3D34-7BD2-4361-BCE1-C53E8995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유한나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39C9D-43D1-42C9-A5D3-8F11A378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08D18-C957-4DDD-B20A-0B1B424E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618313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FB8D8-5719-4C50-95FD-554BC3B9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 ·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FBE39-9B85-4FFB-B33D-2CD6BB3A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D72E1-59AA-4C8E-8EC3-E2B7122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6E5E1-146A-4523-8291-B247854B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8BF29-7FD4-4AA4-AA32-40FB8861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러닝 영상 한 번으로 자세 측정, 설명, 변화 기록까지 연결합니다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CBAEC-7134-44D8-AFCC-0D72BAB4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FF40A-844A-42C3-A1C3-367285B3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8D7B4-03AA-452B-9D8B-8F3FA7D1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전신이 보이는 짧은 MP4와 사용자 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72882-D059-4D6D-951B-2D65A778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B9B5E-AFA9-429A-A434-B986928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36EAC-4549-441E-AA2E-C2CE5AD9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7CE0D-4516-4813-A82A-A9C46254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좌표에서 네 가지 러닝 자세 특성값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6D349-DE66-4002-84ED-BB6450D3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E6DBE-6B2B-48DB-837D-2F8BCAE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67E87-C6F8-4C54-B76B-3839D888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리포트와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0043C-E6D4-4474-85E0-E22ED93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측정값, 개선 피드백, 스켈레톤 영상을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9418C-6F63-4B7B-AD08-B5281D4B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E65CC-6E22-4980-ABC4-50C1752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372D0-5FC0-44DA-BADF-34A9A50E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98728b06f4a1e"/>
          <a:stretch xmlns:a="http://schemas.openxmlformats.org/drawingml/2006/main"/>
        </p:blipFill>
        <p:spPr>
          <a:xfrm xmlns:a="http://schemas.openxmlformats.org/drawingml/2006/main">
            <a:off x="6953250" y="2035494"/>
            <a:ext cx="1657350" cy="368236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929dea10e442e"/>
          <a:stretch xmlns:a="http://schemas.openxmlformats.org/drawingml/2006/main"/>
        </p:blipFill>
        <p:spPr>
          <a:xfrm xmlns:a="http://schemas.openxmlformats.org/drawingml/2006/main">
            <a:off x="9372600" y="2035494"/>
            <a:ext cx="1657350" cy="368236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7705F-4BEF-4E99-9177-EDDABC7B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8F1711-34DF-45A1-A733-2B188E0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377594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9CA6B-DE51-406E-8F09-1ACD7C75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 · 시연 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2F868-A0F4-49FE-8181-6BEF4ABC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8C64F-7246-4116-8DC0-379CCF74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시연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309C9-4D74-447D-B477-D7C92145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2CF1F-D188-4412-A400-A6FE7742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6c48d0b824ee0"/>
          <a:srcRect xmlns:a="http://schemas.openxmlformats.org/drawingml/2006/main" l="0" t="889" r="0" b="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7350"/>
            <a:ext cx="7620000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24B11-476F-498E-A0EB-14693B65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D9A78-5205-46CA-A54A-5580681E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84171-D42C-4761-8FEA-1D9F179A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발표용 서비스 시연 영상으로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DD942-0CFC-4324-8EC5-CABFD424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78011-09B3-4F7D-935B-60A03EA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선택과 분석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8E569-AB9A-48BC-8291-9E4A09DB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95DA1-C12A-4F27-A03C-F92EE754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2E3B0-F391-4C46-A0B3-53856FDD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14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진행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334A1-4605-4148-BFF6-DE6F6204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65DFE-0A6C-4E48-8773-83D9B77C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3640D-DDB8-4CD9-9CE6-877DEC1E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점수와 핵심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59442-1FBD-4FCC-AEC4-57283043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CAFDD-099E-432F-9C04-7723DFC2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D0937-340B-4B2A-AD9F-A5558389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기록 화면 재조회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9B2F5-F045-4A72-88FB-AB7B01B5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1D9DA-19E2-4A55-A075-3191195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895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DC00F-4F7D-4E24-A95D-0FE378E3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현재는 Coach 출력 영상의 대표 프레임입니다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영상 파일을 받으면 같은 영역에 교체합니다</a:t>
            </a:r>
          </a:p>
        </p:txBody>
      </p:sp>
    </p:spTree>
    <p:extLst>
      <p:ext uri="{BB962C8B-B14F-4D97-AF65-F5344CB8AC3E}">
        <p14:creationId xmlns:p14="http://schemas.microsoft.com/office/powerpoint/2010/main" val="1752052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76BDCA-1AF3-4E13-AEB0-2476D4A0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F2C89-B02A-4F43-B13F-A88BB07F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205EF-499E-4B4A-BB23-4A576274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main.sh 실행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2EC5A-2CCB-4816-AFF8-5AB4A443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EA104-5432-4278-A911-408A4073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각 단계는 앞 단계가 종료된 뒤 실행되며 outputs 폴더의 파일을 다음 단계가 읽습니다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9A20D-F19E-4C85-8515-2C1AFFE2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809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3ECED-4FCE-4DDB-ACE9-6217771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RUN FOLDER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A3C76-0EF8-4658-A8A5-9E28710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MP4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700F6-6426-4D6F-8DA9-8A37E7CD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user_info.json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95214-07F5-48CB-956C-B7E849BA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2286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90AF8-DABC-4AB0-8224-A2B66D6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74B28-F0BD-405D-B0DD-F8D2D2D2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BDDC2-9053-4FA4-9532-973B802B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hpe.sh / hpe.py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D2D89-C653-4FF6-8B66-5BEAC29A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 루프와 렌더링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F4E27-063C-4475-89DA-FA852A70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2286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3D158-006C-451A-8AF0-D92253A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8BE59-943A-40CC-A45D-914DB26B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7B0E9-752F-4548-83A2-D202B3FB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feature_extract.py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3AE26-33EA-4DDD-BAB7-F7A5B4EE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PoseSequence와 4개 피처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F0DF1-50C1-4666-B08F-063BF580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286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BE2EE-E9FF-4045-B665-D3C48301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0FB68-569E-4998-BD98-632C0030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65BAC-EB2B-44AA-A10F-0BF62810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Running_coach.py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A973E-D003-4467-AFF5-03631221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62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gpt-5-nano 리포트</a:t>
            </a:r>
          </a:p>
        </p:txBody>
      </p:sp>
      <p:cxnSp>
        <p:nvCxnSpPr>
          <p:cNvPr id="65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09800" y="31432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00650" y="31432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91500" y="31432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192F9-EBA3-4172-A5AF-3B2CBB5D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9580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2C3211-FD64-4C85-991B-0053D1B7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67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HPE 산출물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4B03B-E482-41EA-94C5-BE8DF497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101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pose_predictions.json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details.json · output.mp4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E8F915-2C92-4E13-8B8D-D775EEA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30BB73-9ED5-43E5-900C-DBAAD862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FEATURE 산출물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F2F8E2-D872-4DF5-961A-1DC7CE40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AE5555-C2F7-459E-AFAF-01310E68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909368-1EBE-41E9-8EDC-2CF8526A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AGENT 산출물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852B8A-9852-448F-8C75-38D7BAEC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673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18107A-51A5-4310-9A27-86B3E3BE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5752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완료 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0584DF-2502-4E71-A5FC-88106BB1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5752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완료 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B442A7-1C86-47B9-8208-88E4B190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0782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0AC5D6-DBDE-4F63-A51A-A973BD2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67425"/>
            <a:ext cx="1040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Agent는 --agent false일 때 생략됩니다. 피처 추출은 HPE 내부 프레임 루프에서 실행되지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914413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3B180-A015-488C-A987-2802F9E5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DD04A-BBCC-47C7-A494-02E29647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646CF-55E8-441D-906D-7980D88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영상에서 HPE 데이터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68338-4EC1-4BD4-A17F-288FED88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04700-A07D-4305-89A0-588B0840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프레임을 저장하지 않고 영상 스트림에서 사람과 26개 관절을 추정합니다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85832-7476-4949-9EB1-7C4E2BE6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E07F1-1A42-4AD8-A28A-CAD0843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 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A7E92-F154-4EE5-A419-FD25D2F0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FPS, 프레임 수, 해상도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9BA32-EBFD-4A30-8F67-9F633147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DAA51-BFE2-41AD-8AFC-F6187EB8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81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RTMDet-nano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9D243-BC66-43ED-8C99-DA9D0575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프레임마다 사람 bounding box 검출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94C2E-B843-4E1D-BA54-B644ED60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FDAC3-5970-4CBE-8D3D-1695EE61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RTMPose-M Halpe-26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54464-9F13-4A4A-8B3A-68FE1E00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26개 관절 좌표와 confidence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57FE5-8AC2-4448-89DD-B8198757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40FB9-B435-4AB9-ACEA-000F81DF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0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주 대상 트래킹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500A8-8C1D-4497-8D3A-D6B86D0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IoU와 bbox score로 한 명의 track_id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430C4-8555-429B-B6FC-E09F06E2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C503E-D03C-45FD-A00C-39ADD38B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산출물  pose_predictions.json · details.json · output.mp4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BE8BE-D3B6-48C1-BD33-D1DDA95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53911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686529a8248ca"/>
          <a:srcRect xmlns:a="http://schemas.openxmlformats.org/drawingml/2006/main" l="11800" t="0" r="11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828800"/>
            <a:ext cx="5200650" cy="3829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6C06A-F7E3-4AA3-A075-4D79272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67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RTMPose 렌더링 결과</a:t>
            </a:r>
          </a:p>
        </p:txBody>
      </p:sp>
    </p:spTree>
    <p:extLst>
      <p:ext uri="{BB962C8B-B14F-4D97-AF65-F5344CB8AC3E}">
        <p14:creationId xmlns:p14="http://schemas.microsoft.com/office/powerpoint/2010/main" val="232372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3D250F-16EF-4FCE-8C87-CB6D3990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57ED2-D028-4C6C-8D90-95E96185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A7080-6C06-427A-BC04-FBB92193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Coach 분석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A9CD2-D6B6-4018-AF0A-D23907C4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A280-4EA7-40ED-99F8-06938221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239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00D0C-C14D-488D-B429-99872BA7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E30BC-2B9A-41F8-A644-BD8C5B21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57500"/>
            <a:ext cx="15049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2BCEA-2A64-499D-BC03-6316FBD5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337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단위로 분할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709AD-9A24-42BF-BB88-3191198F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2133600" cy="22669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42E8C-E5DA-4069-9386-114974AB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524000" cy="590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931B8-69C8-4CDA-A2A5-677FE605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145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9031E-74A6-4562-AE30-C1BCA908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1524000" cy="590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2413F-ED27-40A0-9C75-593895C3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193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촬영 규격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B37F1-014E-41BC-8B20-3FBCB1D4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524000" cy="590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AE583-C4E1-4E4F-A596-30C2AE51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human pose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estimation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07E4A-EB98-401E-A5A6-8C3269D4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43100"/>
            <a:ext cx="17145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0B427-1F42-49E0-895A-51FF0E42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5개 프레임 임시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A3DD1-3E95-4369-8148-73CCFC80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 frame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664B7-E292-4FFC-BEAB-4EFDA481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28194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CFD08-CFD9-4017-92C5-5AC10159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Interpolation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604EF-00C7-4C89-AF4E-A3AF6E2A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1465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258D9-68D3-4813-A19E-D8DD451B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8A0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32541-F3AF-41BB-8074-4B4E4801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2575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Frame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2B758-BC5A-47D9-B39B-CF44BF39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86150"/>
            <a:ext cx="1752600" cy="476250"/>
          </a:xfrm>
          <a:custGeom xmlns:a="http://schemas.openxmlformats.org/drawingml/2006/main">
            <a:pathLst>
              <a:path w="1752600" h="476250">
                <a:moveTo>
                  <a:pt x="0" y="323850"/>
                </a:moveTo>
                <a:lnTo>
                  <a:pt x="438150" y="171450"/>
                </a:lnTo>
                <a:lnTo>
                  <a:pt x="876300" y="76200"/>
                </a:lnTo>
                <a:lnTo>
                  <a:pt x="1314450" y="209550"/>
                </a:lnTo>
                <a:lnTo>
                  <a:pt x="175260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7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2D878-71D0-4170-80FB-42148A08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BCD6D-2EF4-4633-84D7-B6B824C9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FACCB-BF50-4A63-98A1-5AA6E8FD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6E586-06E6-4177-9BD5-BBC0F383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934CF-B31D-48A5-843C-628A534D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C985D-4B07-40E4-905B-33F4296A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25DE3-50D7-4283-9E01-0B1A92BB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9C1295-6ADB-40B7-BD77-8F0DE31F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24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42D9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527930-92DF-4BA4-9DEC-96BFD08E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899927-9C32-447F-B09B-D2C6C38C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A0E34C-09DE-43C7-9AFD-F2217A06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57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FBC394-AC04-4CBD-BE42-3B250817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822B9B-E515-4749-A1B7-DFD2B50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2194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F25551-7422-4693-93E2-34F61EC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67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B3A890-F01A-4891-94BB-B69A7A14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051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32DBE8-91E1-4F32-8E56-EE7FEA21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86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F675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8532FE-6376-46FE-B9D9-ADD74CCB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623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675F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9A973D-E4D3-4A12-9522-BD7F9032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57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675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675F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475042-B26D-4B8F-A677-EB5311FE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17526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EE0805-7841-429D-AB37-72EAD89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t-2 frame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비디오에 저장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4EDD4D-50AB-439D-AD39-DE37E7E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76850"/>
            <a:ext cx="22098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9B03E2-5B34-4B34-A3C2-637E026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483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Human Pose Estimation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데이터에서 피처 추출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71E8E5-93D2-4650-98E8-7F6ABB8A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57800"/>
            <a:ext cx="1447800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1DF478-3B31-45E8-BEF1-45224960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054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225347-FD1C-4C55-A76F-101E5D1D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14950"/>
            <a:ext cx="118110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452703-45A5-414E-BEF0-7358659D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5054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49BAB9-3C9F-42C1-8BD6-CF697516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96000"/>
            <a:ext cx="27051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540780-C186-4DA8-B78A-9345F0E6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91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prompts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4E3465-C4E3-45D0-B5C0-FAE42CBC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3817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당신은 러닝 자세 분석 리포트를 작성하는 AI 입니다.   {INSTRUCTION}   {features}</a:t>
            </a:r>
          </a:p>
        </p:txBody>
      </p:sp>
      <p:cxnSp>
        <p:nvCxnSpPr>
          <p:cNvPr id="12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24000" y="3267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448050" y="2695575"/>
            <a:ext cx="10096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524500" y="23050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524500" y="30099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9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591300" y="2400300"/>
            <a:ext cx="59055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16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8896350" y="2400300"/>
            <a:ext cx="14859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6" name=""/>
          <p:cNvCxnSpPr>
            <a:stCxn xmlns:a="http://schemas.openxmlformats.org/drawingml/2006/main" id="19" idx="2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7829550" y="4267200"/>
            <a:ext cx="25527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127" name=""/>
          <p:cNvCxnSpPr>
            <a:stCxn xmlns:a="http://schemas.openxmlformats.org/drawingml/2006/main" id="43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2695575" y="3676650"/>
            <a:ext cx="3381375" cy="10668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128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6953250" y="5067300"/>
            <a:ext cx="3810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29" name="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8096250" y="5600700"/>
            <a:ext cx="6286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0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0172700" y="56007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1" name=""/>
          <p:cNvCxnSpPr>
            <a:stCxn xmlns:a="http://schemas.openxmlformats.org/drawingml/2006/main" id="51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9448800" y="59436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9040B4-B96E-48DB-9E23-DB7DC7B5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t+3 frame load</a:t>
            </a:r>
          </a:p>
        </p:txBody>
      </p:sp>
    </p:spTree>
    <p:extLst>
      <p:ext uri="{BB962C8B-B14F-4D97-AF65-F5344CB8AC3E}">
        <p14:creationId xmlns:p14="http://schemas.microsoft.com/office/powerpoint/2010/main" val="26783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E7EEBF-081D-497A-99E9-6B152C50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86E2F-0E3A-45AE-AA6B-9D7424C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D76CE-5135-4E93-8263-FE85FC79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네 가지 자세 피처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BA33F-44CD-4CC9-AFA6-47504CD0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07397-073A-47FD-A71E-AC572F11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pose_predictions.json, details.json, user_info.json을 PoseSequence로 묶어 네 가지 피처를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B0AE8-1EF5-4778-9A06-594A979C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e557f67d940fc"/>
          <a:stretch xmlns:a="http://schemas.openxmlformats.org/drawingml/2006/main"/>
        </p:blipFill>
        <p:spPr>
          <a:xfrm xmlns:a="http://schemas.openxmlformats.org/drawingml/2006/main">
            <a:off x="863043" y="2057400"/>
            <a:ext cx="1588614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6F53F-A91F-4708-92DC-E90901DA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41143-69FE-4C18-BEB6-32146711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골반 수직 진동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6EA04-6ABB-408A-AFE8-1291F8E5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접지 중 골반 높이 변화 ÷ 신장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D7DD5-DB3D-4673-84FD-FF024AEA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5db975096455c"/>
          <a:stretch xmlns:a="http://schemas.openxmlformats.org/drawingml/2006/main"/>
        </p:blipFill>
        <p:spPr>
          <a:xfrm xmlns:a="http://schemas.openxmlformats.org/drawingml/2006/main">
            <a:off x="37404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5A720-D30A-494C-9C8C-2B6A33AF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1428-15BF-427B-B2A1-1EE875D6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팔꿈치 각도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DEEB-1CA1-49D7-A1A6-27FF5D5B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한 스트라이드의 각도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E8326-1E3A-42EA-8FCB-A0915C7E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48f81e163475a"/>
          <a:stretch xmlns:a="http://schemas.openxmlformats.org/drawingml/2006/main"/>
        </p:blipFill>
        <p:spPr>
          <a:xfrm xmlns:a="http://schemas.openxmlformats.org/drawingml/2006/main">
            <a:off x="661700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C6B48-3621-4473-868D-888A6457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56562-5391-4696-99FC-079A0C06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몸통 굴곡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2E2F1-E447-4BCA-9B4E-C56C76C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어깨 중심과 골반 중심의 기울기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ED87A-8591-4C10-8414-57BD9A20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efa7c0644493c"/>
          <a:stretch xmlns:a="http://schemas.openxmlformats.org/drawingml/2006/main"/>
        </p:blipFill>
        <p:spPr>
          <a:xfrm xmlns:a="http://schemas.openxmlformats.org/drawingml/2006/main">
            <a:off x="94935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1D436-9F49-4085-88D9-778455C2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47F90-018A-4C07-8D98-061C7329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전방 자세 기울기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BB49A-549B-4908-BE43-091925CE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목과 발목을 잇는 선의 각도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33B72E-F33B-4DA9-83B2-914B9E2F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E91BF-0EA3-4948-8760-EF629119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982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cal_stride, pixel2m, gct 이후 feature1~4 실행 · feature_results.json 저장</a:t>
            </a:r>
          </a:p>
        </p:txBody>
      </p:sp>
    </p:spTree>
    <p:extLst>
      <p:ext uri="{BB962C8B-B14F-4D97-AF65-F5344CB8AC3E}">
        <p14:creationId xmlns:p14="http://schemas.microsoft.com/office/powerpoint/2010/main" val="7384492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6D02EB-C310-4770-B0AD-5928F475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A4916-EC61-49ED-89C8-6A8CE52F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4D146-8FCA-44E6-83B5-0F4BDA1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판정 로직과 Coach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EC292-2373-4C08-BB82-D537D5DA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84204-159B-4A4D-B194-EA633220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수치 계산과 문장 생성을 분리해 결과의 근거를 추적할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D19F8-3D9C-4733-A6AD-D68CA59E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83211-21FE-49E9-8BB3-42CED5BD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계산과 구간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988C2-E55D-4600-9BEC-97950752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feature_results.json에 측정값, 기준 구간,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행동 지시, 결과 해석을 구조화해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B5B9C-A277-4C9C-AD4F-AA40BE2B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171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EC242-08C6-41B8-BBE4-3C488D2F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value,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range 또는 boundary,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instruction, outcome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3FACA-1013-45DB-9103-C16555E7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4개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803AE-C738-439E-8BDB-AFE65965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Rule Base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77795-B50B-41C9-B4DF-6780D23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49B09-EB0B-456A-A82C-975F1E9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416D7-A104-4100-83B9-028F0173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gpt-5-nano가 리포트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F8B12-8C9C-4798-A66E-5C394B15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Coach 코드는 feature_results.json만 모델에 전달합니다.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모델은 수치를 다시 계산하지 않고 설명 문장을 작성합니다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C069B-3BC2-4DB5-8D9C-1A801C8F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BF84B-DE9A-409F-BF29-FB9B25D3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F2503-87C4-45CB-8D0D-4E44EE1A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1DF86-423B-4B11-8182-47C1D7AA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2AC64-7224-4001-88F7-97EF94AD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5EE1C-F030-40DE-8E00-89F4EE0D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179445-AA89-4445-806D-39696095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1600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E0F0E-8249-42F2-A820-529A3962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1409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PERSONA + INSTRUCTION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6D8617-C76D-4532-BE5A-C7CB9127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3906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83F9F-1489-4FB4-B375-4E8BAE53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1F594-5D94-41C7-81C9-A040D563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6285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1550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2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915400" y="38671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A38339-4EF2-4556-AE49-877D13C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569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9DBA7D-E85A-4952-93F1-2F69D3B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 Coach 구현 모델  gpt-5-nano · 기존 PPT의 모델 표기를 코드 기준으로 업데이트</a:t>
            </a:r>
          </a:p>
        </p:txBody>
      </p:sp>
    </p:spTree>
    <p:extLst>
      <p:ext uri="{BB962C8B-B14F-4D97-AF65-F5344CB8AC3E}">
        <p14:creationId xmlns:p14="http://schemas.microsoft.com/office/powerpoint/2010/main" val="2043233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56AE84C-51B5-4D4D-B076-78DBDDA5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3B12B-FC72-4A5E-8AED-EBE6F422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35512-767F-4C11-8B7E-3A8CE802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 피드 영상 분석 서비스 기술 아키텍처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483FC-9327-4E6E-9184-49C37D74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C1E5D-E2DE-490F-812C-B99388D3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371600"/>
            <a:ext cx="11811000" cy="4038600"/>
          </a:xfrm>
          <a:prstGeom xmlns:a="http://schemas.openxmlformats.org/drawingml/2006/main" prst="roundRect">
            <a:avLst>
              <a:gd name="adj" fmla="val 188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42A65-FE67-4AFB-84D5-56A06E67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1466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 피드 서비스 영역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565ED-52B6-4C66-8EDB-A1A9EAD6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0"/>
            <a:ext cx="1428750" cy="36385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F660A-EBA3-40BA-89CA-BEBF4E1C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사용자 / 외부 네트워크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EFD32-F313-4EB3-9346-3B8E31D6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19250"/>
            <a:ext cx="7981950" cy="3638550"/>
          </a:xfrm>
          <a:prstGeom xmlns:a="http://schemas.openxmlformats.org/drawingml/2006/main" prst="roundRect">
            <a:avLst>
              <a:gd name="adj" fmla="val 209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DE3DF-16AD-4DDC-BED2-00A4802C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09750"/>
            <a:ext cx="7639050" cy="1562100"/>
          </a:xfrm>
          <a:prstGeom xmlns:a="http://schemas.openxmlformats.org/drawingml/2006/main" prst="roundRect">
            <a:avLst>
              <a:gd name="adj" fmla="val 48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69DD7-C18B-4613-A57F-8E16ED11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145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웹 · API 계층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0824D-36E8-43EA-8297-43205093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38550"/>
            <a:ext cx="46863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43405-0CEC-4744-B7AA-D7A05A28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비동기 추론 파이프라인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0F15F-FA5E-4240-8E11-381EA6FA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96215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556DB-C0A7-40F7-9126-9C4F03AA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866900" cy="3638550"/>
          </a:xfrm>
          <a:prstGeom xmlns:a="http://schemas.openxmlformats.org/drawingml/2006/main" prst="roundRect">
            <a:avLst>
              <a:gd name="adj" fmla="val 40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65CF2-BC32-483B-91E2-4BF8E6A1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 · 결과 저장소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E0064-D0F6-4298-9DCC-E5D82A8E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8953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518EE-FF20-4CFC-BA24-4719E192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MP4 선택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+ 분석 이름 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95233-6E47-47C2-8D33-34600612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97155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B1094-4D6E-48D7-8206-850CFD7A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Browser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86549-FC60-4D9B-8174-3BB11C00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1295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D957C-623D-4A29-83C4-4DD51229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57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NEXT.js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4D704B-F7E5-42CE-AF73-76130DBE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52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Next.js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E4190-B5C6-4BD6-935A-0F3E0CA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106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BC8548-175E-47C7-A373-C88F6AA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E4EC8-27F3-4CCD-B058-D04CE6D0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592CEB-3432-4FEC-BA67-5BE89F1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390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D2E90-7133-47C2-89B5-BBBBC0D7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FastAPI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96084-9943-463D-9BC1-5AEC260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AC42F6-9E53-43FC-90EE-2FB7B8AD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38600"/>
            <a:ext cx="990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0D8BE9-285E-4B0E-828F-4A3F02CA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767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C22418-2AC7-4BA9-87FD-81FB732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914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F9591A-2682-4D65-BF2F-6784E6F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767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723D10-1657-415B-8469-4B631D28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38600"/>
            <a:ext cx="914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468726-4930-4BA7-9062-E2E228D6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767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Celery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12B9EC-0603-47C8-B725-51713F8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86200"/>
            <a:ext cx="762000" cy="10096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B39B0B-0B9A-48F9-9076-611E7C9E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Inference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5FD3DC-B846-455E-B175-904CCA84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18F3B9-E531-4073-9872-FABF9CF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FC8F71-3A46-4462-8DBA-D1EE8A00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15-1. OpenCV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6BDD6E-078C-4B49-A893-D9581B2E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52875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2AEDD4-8BE9-4178-9ED1-E7ADC326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90975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15-2. RTMPose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A4EA1-5A5B-45C1-91F8-74BE9C9D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0109C7-7041-4986-8298-25F27837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15-3. Metrics &amp; 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4B4EDB-A4B9-403D-BCF0-925FB7F3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91025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3B950E-4932-42D8-BFD3-D45210D2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29125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15-4. Ollama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6EA2C3-1AFF-4335-A35E-3A29B316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10100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056FF7-E97D-4697-8BEE-02AB0F63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5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15-5. Joint Overlay Renderer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199ADB-4CC2-4D01-86F3-B93AB8D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29175"/>
            <a:ext cx="17335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C5C1ED-F4E9-4AAE-8888-1FE2F530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67275"/>
            <a:ext cx="1619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15-6. Result Packager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BD0C6A-01A4-458E-8EE8-6B86AA2B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57400"/>
            <a:ext cx="1485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DB0D62-D2C2-43E3-A641-9ED525CD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574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Raw Bucket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E632D7-CC08-47DC-A593-3805F18C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81275"/>
            <a:ext cx="125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OCI Object Storage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2A84A7-6743-4905-B711-85E984DB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14800"/>
            <a:ext cx="1485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D7ABAE-F29F-4EAF-B461-500069D2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243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9025B3-0CCA-404A-AFFC-5770C7EE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67250"/>
            <a:ext cx="125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OCI Object Storage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B3AAEA-9D15-4681-BFFD-84AAA893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EA8144-5A36-401D-A0C2-6F99438C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72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81075" y="2667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5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1466850" y="2419350"/>
            <a:ext cx="80010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6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562350" y="24193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7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391150" y="24193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8" name=""/>
          <p:cNvCxnSpPr>
            <a:stCxn xmlns:a="http://schemas.openxmlformats.org/drawingml/2006/main" id="27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562850" y="2419350"/>
            <a:ext cx="26289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89" name=""/>
          <p:cNvCxnSpPr>
            <a:stCxn xmlns:a="http://schemas.openxmlformats.org/drawingml/2006/main" id="21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2914650" y="2419350"/>
            <a:ext cx="3257550" cy="3429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90" name=""/>
          <p:cNvCxnSpPr>
            <a:stCxn xmlns:a="http://schemas.openxmlformats.org/drawingml/2006/main" id="21" idx="2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2914650" y="2762250"/>
            <a:ext cx="3952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1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3505200" y="2762250"/>
            <a:ext cx="3362325" cy="1276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2" name=""/>
          <p:cNvCxnSpPr>
            <a:stCxn xmlns:a="http://schemas.openxmlformats.org/drawingml/2006/main" id="27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5905500" y="2762250"/>
            <a:ext cx="962025" cy="1276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3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000500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4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181600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5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362700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6" name=""/>
          <p:cNvCxnSpPr>
            <a:stCxn xmlns:a="http://schemas.openxmlformats.org/drawingml/2006/main" id="27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6867525" y="2762250"/>
            <a:ext cx="14287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7" name=""/>
          <p:cNvCxnSpPr>
            <a:stCxn xmlns:a="http://schemas.openxmlformats.org/drawingml/2006/main" id="51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7010400" y="2933700"/>
            <a:ext cx="392430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98" name=""/>
          <p:cNvCxnSpPr>
            <a:stCxn xmlns:a="http://schemas.openxmlformats.org/drawingml/2006/main" id="36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7391400" y="3824288"/>
            <a:ext cx="342900" cy="5667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99" name=""/>
          <p:cNvCxnSpPr>
            <a:stCxn xmlns:a="http://schemas.openxmlformats.org/drawingml/2006/main" id="3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601075" y="391477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0" name=""/>
          <p:cNvCxnSpPr>
            <a:stCxn xmlns:a="http://schemas.openxmlformats.org/drawingml/2006/main" id="41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8601075" y="4133850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1" name=""/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601075" y="435292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cxnSp>
        <p:nvCxnSpPr>
          <p:cNvPr id="202" name=""/>
          <p:cNvCxnSpPr>
            <a:stCxn xmlns:a="http://schemas.openxmlformats.org/drawingml/2006/main" id="45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8601075" y="4572000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3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8601075" y="4791075"/>
            <a:ext cx="0" cy="38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4" name=""/>
          <p:cNvCxnSpPr>
            <a:stCxn xmlns:a="http://schemas.openxmlformats.org/drawingml/2006/main" id="4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9467850" y="4581525"/>
            <a:ext cx="723900" cy="3381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205" name=""/>
          <p:cNvCxnSpPr>
            <a:stCxn xmlns:a="http://schemas.openxmlformats.org/drawingml/2006/main" id="36" idx="2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H="1" flipV="1">
            <a:off x="3505200" y="4743450"/>
            <a:ext cx="3505200" cy="152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6" name=""/>
          <p:cNvCxnSpPr>
            <a:stCxn xmlns:a="http://schemas.openxmlformats.org/drawingml/2006/main" id="27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7562850" y="2419350"/>
            <a:ext cx="21717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</a:ln>
        </p:spPr>
      </p:cxnSp>
      <p:cxnSp>
        <p:nvCxnSpPr>
          <p:cNvPr id="207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9744075" y="3048000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</a:ln>
        </p:spPr>
      </p:cxnSp>
      <p:cxnSp>
        <p:nvCxnSpPr>
          <p:cNvPr id="208" name=""/>
          <p:cNvCxnSpPr>
            <a:stCxn xmlns:a="http://schemas.openxmlformats.org/drawingml/2006/main" id="58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9753600" y="45815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09" name=""/>
          <p:cNvCxnSpPr>
            <a:stCxn xmlns:a="http://schemas.openxmlformats.org/drawingml/2006/main" id="19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81075" y="2419350"/>
            <a:ext cx="5191125" cy="11620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210" name=""/>
          <p:cNvCxnSpPr>
            <a:stCxn xmlns:a="http://schemas.openxmlformats.org/drawingml/2006/main" id="27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1466850" y="2762250"/>
            <a:ext cx="5400675" cy="5238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35B1CB1-1700-49C2-8164-FA3B8B6C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33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/api/uploads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7266B30-D2B8-494E-9EA4-F5BD5B20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28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X-API-Key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687DDCC-81B5-4A7A-9787-BD889A7B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5. 임시 업로드 URL 생성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638243-54B6-417E-9A47-665025F6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2971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6. PUT video/mp4 (직접 업로드)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D8497D-FED5-4EF8-84D1-2C36533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2114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7. POST /uploads/complete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99592AD-0D64-4309-A291-139D3256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1771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8. HEAD / size / type 검증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C6335A-171D-4563-A3DF-644E251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57550"/>
            <a:ext cx="1466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9. POST /jobs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95426B5-F4BE-44FA-ADA7-4A279094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1000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10. Job INSERT · QUEUED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A02B91-7B5F-4253-82EF-45FFB69F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1257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11. 추론 작업 발행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625711-42AD-4C06-A9F1-A29629BF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12. 작업 전달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77070FF-E76D-4D04-898A-B09CDBBF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76800"/>
            <a:ext cx="1200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13. PROCESSING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CD69E39-65C4-4B86-90A9-CA25532C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1390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14. input.mp4 다운로드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4E3DA19-639C-4373-A3B5-CB7E016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95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16. JSON ×3 + MP4 업로드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D1C80DA-04D9-4D6E-90F7-23A90353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67300"/>
            <a:ext cx="1619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17. SUCCESS + object names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3D81D70-AA8A-4B6E-8035-284F8FC3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81500"/>
            <a:ext cx="876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13D33DA-34FE-4DBD-A4C8-F04CFA51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57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2.5초 폴링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최대 1시간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8C127F-916F-47DA-A59B-D8C1DB8B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18. GET /jobs/{job_id} 폴링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D92BE0F-E97F-41EB-81A7-847F0058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19. 임시 결과 URL 제공 + 리포트 읽기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F66B9C8-56D3-4BB3-9BFD-9E40663D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20. 결과 영상 + 측정·근거·AI 해설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05D0221-DA40-457B-9DD7-97EC1968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9750"/>
            <a:ext cx="4686300" cy="9144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BE30108-2522-4F92-9855-9EA1EFD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8640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관찰 가능성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7B462D-7735-4B87-82BE-1BDE6D43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A4CF8B7-867E-4DCB-B91F-D35217F8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273B6E9-6B4E-44DB-946A-F9145B67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D0346D9-12CC-46E2-9313-D5BBCD5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61344C5-9CFE-4DFB-9B35-704517CF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6567C1C-A174-44AA-977F-A8175911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315025-AF49-42A7-81F5-8FBDD1DF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E5F728B-B1CB-4C14-A968-D879120D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BA11882-51F5-4B13-B512-1DFD1BEA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829300"/>
            <a:ext cx="762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5535426-00D0-49F0-AFE8-1B817FBC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6265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알림 (실패)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85A2436-BF2E-45E9-BECA-E15CA390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7690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4C84B"/>
            </a:solidFill>
            <a:prstDash val="dash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5652DC6-64DE-40F5-90D4-273F0EC9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260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0D3AC1D-C2DD-4D34-8700-640D4DD1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9245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내러티브 생성 (선택)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01DAC35-10FA-484E-AAA9-3CB3D21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912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F7F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E86EDDA-0EEA-4134-8020-2B1C7081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72452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/ 제어 흐름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63B942F-5EB7-486F-A2BB-0F214A04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057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D9D0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FA9B525-6A01-456A-B19D-F8FA7EC6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991225"/>
            <a:ext cx="1028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영상 / 결과 데이터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CDE5B73-1A7A-4902-AD04-2820035D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3246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C84B"/>
            </a:solidFill>
            <a:prstDash val="dash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AD95927-63A0-44EC-8EB1-CD6CC6EC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25792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</a:t>
            </a:r>
          </a:p>
        </p:txBody>
      </p:sp>
    </p:spTree>
    <p:extLst>
      <p:ext uri="{BB962C8B-B14F-4D97-AF65-F5344CB8AC3E}">
        <p14:creationId xmlns:p14="http://schemas.microsoft.com/office/powerpoint/2010/main" val="1474689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87989D-99F3-4066-B270-18FA73A7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07165-B477-45C3-9DDF-E3865E8A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C8F25-43A7-4F68-898D-957C5537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분석 Worker와 결과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F8799-9F5D-4144-AD23-68A1FC28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A4E70-167A-4E4A-9C8D-BBCD3AA1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GPU Worker가 분석 산출물을 패키징하고, 결과 URL과 리포트를 API로 돌려줍니다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A4739-C0E5-40D5-9BBF-5F3BCB58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 INFERENCE 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5C096-D76E-4961-B7E8-A76171F7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B6529-C920-40BB-A4D5-F0E5137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A632D-DCD2-4192-8E96-E95D7ADA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52274-21BF-441F-A0E9-4B4986BF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10BDA-B431-4927-B628-008B721C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CDB5C-55EE-41F0-B7B3-7531658B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81425-1E44-49FB-93D8-946C2256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B4DA9-4DD3-480D-9D3E-4B7C95F1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00AC6-EE68-4C98-B39A-72AA4B2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7959D-F8EF-4E36-95B1-DEE21EF6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F258E-A1F1-48B9-961A-21BF360B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C1C2A-C3A7-4045-B9A7-A29E2550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피처 · 근거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8B500-D3C4-4333-8B88-99AF40EF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44878-44B9-420E-A62E-23E85CC2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CD446-07A8-457D-9DBC-B2787584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FD4AB-3F93-4480-A69D-4902E02B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결과 영상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2FA90-08FE-4BC3-BCD8-6718CA6E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8FAEF5-84C9-4672-AD72-B9551178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F674C-DFD6-4753-A55A-DA4A859D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25C85-2944-4B46-B021-64131D23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9075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434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487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6268EA-D573-409C-93D7-A5EF0342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228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BF3E4-063A-4C86-8151-B1EA71BC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2614C-7610-4C4B-BC1C-BB029ADD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narrative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C2B06-CD0B-43E6-B396-EF210368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 · Metrics 이후 실행</a:t>
            </a:r>
          </a:p>
        </p:txBody>
      </p:sp>
      <p:cxnSp>
        <p:nvCxnSpPr>
          <p:cNvPr id="86" name=""/>
          <p:cNvCxnSpPr>
            <a:stCxn xmlns:a="http://schemas.openxmlformats.org/drawingml/2006/main" id="1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600700" y="3314700"/>
            <a:ext cx="6286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30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7372350" y="3314700"/>
            <a:ext cx="381000" cy="5905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C9065B-5CDE-4338-94D0-ACF08B9F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0CE75C-4C37-4EA6-867F-3294067A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RESULT DELIVERY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53A1D4-92F3-448E-8EA6-5C1D9094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748F84-9A87-47CF-8F63-A5C46B85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3개와 MP4 업로드 → FastAPI가 임시 결과 URL과 리포트 제공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2D4C18-A0D1-42E3-AC36-812F739D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57912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6303D5-4F1D-4207-ABA6-FB7D6B69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OBSERVABILITY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17F361-3D5A-493D-B7F1-AA2E8503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270B06-697B-420D-A275-39EE0A30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3B0DB7-00C7-4021-B2E0-85271172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6B68D3-01DA-4C2E-AF87-52DD2573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4781E4-5864-4404-B688-D5E352E4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EEC2D2-FA15-4A74-8D02-84E6D6A7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781EAA-5255-47E2-BBF1-8AD4AEAF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14590F-BD5C-40AF-8C37-938E313A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C8F4D2-7242-464C-A6CA-22AD03A6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40B96C-2860-4707-95FC-EECF553A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2113C5-980B-4E6F-9226-9D213998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 상태는 PostgreSQL에 PROCESSING → SUCCESS와 object name으로 기록</a:t>
            </a:r>
          </a:p>
        </p:txBody>
      </p:sp>
    </p:spTree>
    <p:extLst>
      <p:ext uri="{BB962C8B-B14F-4D97-AF65-F5344CB8AC3E}">
        <p14:creationId xmlns:p14="http://schemas.microsoft.com/office/powerpoint/2010/main" val="16392493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41401-CE35-4E6E-B497-F71F127E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D5BD-FAF2-4AF9-B697-40D0DA75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63CCD-231E-492E-A87C-B8D9D669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러닝 영상을 자세 데이터로 바꾸고,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4FA57-B1D8-4352-845A-9D380D7F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측정값과 개선 피드백을 하나의 리포트로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9E539-B379-442A-9B5E-6C4F0822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DA447-C1D7-4DB8-AB22-8FB5C887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기반 관절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D39C3-7E43-4894-94D8-49FAB3F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논문 기반 피처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A828C-D125-4616-8DA2-ABEA5551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이해할 수 있는 리포트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4CC54-6502-44F5-ABE1-034BD7D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013B7-DEAD-472A-97D3-9BFEC3D7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91557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2026-09-09T00:54:22.6020000Z</dcterms:created>
  <dcterms:modified xsi:type="dcterms:W3CDTF">2026-09-09T00:54:22.6020000Z</dcterms:modified>
</coreProperties>
</file>