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f5931a45be444c" /><Relationship Type="http://schemas.openxmlformats.org/officeDocument/2006/relationships/extended-properties" Target="/docProps/app.xml" Id="Rc6b6ad0dba0441b2" /><Relationship Type="http://schemas.openxmlformats.org/officeDocument/2006/relationships/officeDocument" Target="/ppt/presentation.xml" Id="Rddec70f0f3744b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ac76767da44142"/>
  </p:sldMasterIdLst>
  <p:notesMasterIdLst>
    <p:notesMasterId xmlns:r="http://schemas.openxmlformats.org/officeDocument/2006/relationships" r:id="R47297323b3fc43bb"/>
  </p:notesMasterIdLst>
  <p:sldIdLst>
    <p:sldId xmlns:r="http://schemas.openxmlformats.org/officeDocument/2006/relationships" id="256" r:id="R8c6708fc934040f1"/>
    <p:sldId xmlns:r="http://schemas.openxmlformats.org/officeDocument/2006/relationships" id="257" r:id="R59aaac9e30384a1a"/>
    <p:sldId xmlns:r="http://schemas.openxmlformats.org/officeDocument/2006/relationships" id="258" r:id="R30e1c9399c1f41e6"/>
    <p:sldId xmlns:r="http://schemas.openxmlformats.org/officeDocument/2006/relationships" id="259" r:id="R8b311e15bc9744d5"/>
    <p:sldId xmlns:r="http://schemas.openxmlformats.org/officeDocument/2006/relationships" id="260" r:id="R0a11b059d77f4748"/>
    <p:sldId xmlns:r="http://schemas.openxmlformats.org/officeDocument/2006/relationships" id="261" r:id="R447f3fa493cd41b0"/>
    <p:sldId xmlns:r="http://schemas.openxmlformats.org/officeDocument/2006/relationships" id="262" r:id="Rf3b0079172a64df1"/>
    <p:sldId xmlns:r="http://schemas.openxmlformats.org/officeDocument/2006/relationships" id="263" r:id="R0992a4d6350245c9"/>
    <p:sldId xmlns:r="http://schemas.openxmlformats.org/officeDocument/2006/relationships" id="264" r:id="Rdf3582dde34f49a0"/>
    <p:sldId xmlns:r="http://schemas.openxmlformats.org/officeDocument/2006/relationships" id="265" r:id="R487a47a4d1804782"/>
    <p:sldId xmlns:r="http://schemas.openxmlformats.org/officeDocument/2006/relationships" id="266" r:id="R1d83b02cfa604c1c"/>
    <p:sldId xmlns:r="http://schemas.openxmlformats.org/officeDocument/2006/relationships" id="267" r:id="Rec88c5c4b37145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4342bc7141472b" /><Relationship Type="http://schemas.openxmlformats.org/officeDocument/2006/relationships/slideMaster" Target="/ppt/slideMasters/slideMaster1.xml" Id="Rbfac76767da44142" /><Relationship Type="http://schemas.openxmlformats.org/officeDocument/2006/relationships/notesMaster" Target="/ppt/notesMasters/notesMaster1.xml" Id="R47297323b3fc43bb" /><Relationship Type="http://schemas.openxmlformats.org/officeDocument/2006/relationships/presProps" Target="/ppt/presProps.xml" Id="R5b34425f3381453f" /><Relationship Type="http://schemas.openxmlformats.org/officeDocument/2006/relationships/tableStyles" Target="/ppt/tableStyles.xml" Id="R37d96e75bd764dba" /><Relationship Type="http://schemas.openxmlformats.org/officeDocument/2006/relationships/slide" Target="/ppt/slides/slide1.xml" Id="R8c6708fc934040f1" /><Relationship Type="http://schemas.openxmlformats.org/officeDocument/2006/relationships/slide" Target="/ppt/slides/slide2.xml" Id="R59aaac9e30384a1a" /><Relationship Type="http://schemas.openxmlformats.org/officeDocument/2006/relationships/slide" Target="/ppt/slides/slide3.xml" Id="R30e1c9399c1f41e6" /><Relationship Type="http://schemas.openxmlformats.org/officeDocument/2006/relationships/slide" Target="/ppt/slides/slide4.xml" Id="R8b311e15bc9744d5" /><Relationship Type="http://schemas.openxmlformats.org/officeDocument/2006/relationships/slide" Target="/ppt/slides/slide5.xml" Id="R0a11b059d77f4748" /><Relationship Type="http://schemas.openxmlformats.org/officeDocument/2006/relationships/slide" Target="/ppt/slides/slide6.xml" Id="R447f3fa493cd41b0" /><Relationship Type="http://schemas.openxmlformats.org/officeDocument/2006/relationships/slide" Target="/ppt/slides/slide7.xml" Id="Rf3b0079172a64df1" /><Relationship Type="http://schemas.openxmlformats.org/officeDocument/2006/relationships/slide" Target="/ppt/slides/slide8.xml" Id="R0992a4d6350245c9" /><Relationship Type="http://schemas.openxmlformats.org/officeDocument/2006/relationships/slide" Target="/ppt/slides/slide9.xml" Id="Rdf3582dde34f49a0" /><Relationship Type="http://schemas.openxmlformats.org/officeDocument/2006/relationships/slide" Target="/ppt/slides/slide10.xml" Id="R487a47a4d1804782" /><Relationship Type="http://schemas.openxmlformats.org/officeDocument/2006/relationships/slide" Target="/ppt/slides/slide11.xml" Id="R1d83b02cfa604c1c" /><Relationship Type="http://schemas.openxmlformats.org/officeDocument/2006/relationships/slide" Target="/ppt/slides/slide12.xml" Id="Rec88c5c4b37145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3ed0950ca547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b375cab537472d" /><Relationship Type="http://schemas.openxmlformats.org/officeDocument/2006/relationships/notesMaster" Target="/ppt/notesMasters/notesMaster1.xml" Id="Rb5fbe36fcca640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582337f0104658" /><Relationship Type="http://schemas.openxmlformats.org/officeDocument/2006/relationships/notesMaster" Target="/ppt/notesMasters/notesMaster1.xml" Id="Rd88971f4fc2f4a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52eef8e65d477a" /><Relationship Type="http://schemas.openxmlformats.org/officeDocument/2006/relationships/notesMaster" Target="/ppt/notesMasters/notesMaster1.xml" Id="R849ed76ec8ae4c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699a139afd46cd" /><Relationship Type="http://schemas.openxmlformats.org/officeDocument/2006/relationships/notesMaster" Target="/ppt/notesMasters/notesMaster1.xml" Id="Rab1729b89f0648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15cee84a5c47fc" /><Relationship Type="http://schemas.openxmlformats.org/officeDocument/2006/relationships/notesMaster" Target="/ppt/notesMasters/notesMaster1.xml" Id="R08ba291f46ba42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407213d83a4671" /><Relationship Type="http://schemas.openxmlformats.org/officeDocument/2006/relationships/notesMaster" Target="/ppt/notesMasters/notesMaster1.xml" Id="R29930445a66545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24865173fb44d5" /><Relationship Type="http://schemas.openxmlformats.org/officeDocument/2006/relationships/notesMaster" Target="/ppt/notesMasters/notesMaster1.xml" Id="R83c7672cc49545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cb9f4ec0444a06" /><Relationship Type="http://schemas.openxmlformats.org/officeDocument/2006/relationships/notesMaster" Target="/ppt/notesMasters/notesMaster1.xml" Id="R9d9b7fb4a30f47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7a6f0235dc4b05" /><Relationship Type="http://schemas.openxmlformats.org/officeDocument/2006/relationships/notesMaster" Target="/ppt/notesMasters/notesMaster1.xml" Id="Rc9b29f62d76b46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07de9cdadf4704" /><Relationship Type="http://schemas.openxmlformats.org/officeDocument/2006/relationships/notesMaster" Target="/ppt/notesMasters/notesMaster1.xml" Id="Rb8fbee02282a48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0a7d977afa4f76" /><Relationship Type="http://schemas.openxmlformats.org/officeDocument/2006/relationships/notesMaster" Target="/ppt/notesMasters/notesMaster1.xml" Id="R542739fa07bf46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0fb54df2d84927" /><Relationship Type="http://schemas.openxmlformats.org/officeDocument/2006/relationships/notesMaster" Target="/ppt/notesMasters/notesMaster1.xml" Id="Racf07c809c4047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서비스 이름과 한 문장 설명만 전달한다. Source: 기존 발표자료 1장.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 역할 정보는 제공 자료에 없어 빈칸으로 유지한다. 발표 전 담당 업무를 한 줄씩 입력한다.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40초. Source: 기존 발표자료 4~7장과 앱 화면 이미지. 진단 서비스가 아니라 러닝 자세 분석 및 피드백 서비스로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시연 영상 파일이 제공되지 않아 교체 가능한 영상 영역으로 구성했다. 현재 포스터는 Coach/run/test12/outputs/output.mp4의 대표 프레임이다.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Coach/scripts/main.sh, Coach/scripts/hpe/hpe.sh, Coach/scripts/features/features.sh, Coach/scripts/Agent/agent.sh. 세 단계는 동기적으로 순차 실행하며 각 산출물 파일을 다음 단계가 읽는다.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Coach/scripts/hpe/hpe.py, Coach/scripts/hpe/pose_track.py. detector는 RTMDet-nano, pose는 RTMPose-M Halpe-26, backend는 ONNX Runtime이다.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사용자 제공 파이프라인 이미지와 Coach/scripts/main.sh, Coach/scripts/hpe/hpe.py, Coach/scripts/hpe/utils.py, Coach/scripts/features/feature_extract.py, Coach/scripts/Agent/Running_coach.py. 레퍼런스의 객체 위치와 순환 화살표를 유지했다. 코드상 피처 추출은 t-2 프레임마다 실행되지 않으므로 HPE 완료 산출물 뒤에 배치했다.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Coach/scripts/features/feature_extract.py, Coach/scripts/features/utils.py. 네 함수 feature1~feature4와 PoseSequence의 cal_stride, gct, pixel2m을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Coach/scripts/Agent/Running_coach.py, Coach/scripts/Agent/prompts.py. 현재 모델명은 gpt-5-nano이며 feature_results.json을 입력으로 running_report.md를 생성한다.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/Users/hyeon/Downloads/시스템아키텍쳐.png. 사용자/브라우저를 왼쪽, 웹·API와 비동기 추론을 중앙, Raw/Results Bucket을 오른쪽에 두고 원본의 요청, 직접 업로드, 큐, Worker 상태, 결과 저장과 조회 화살표 방향을 유지했다.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/Users/hyeon/Downloads/시스템아키텍쳐.png. Ollama는 원본 구조도에서 선택 기능이다. 현재 Coach 코드의 리포트 에이전트는 앞 슬라이드처럼 LangChain + gpt-5-nano이며, 두 구현을 동일 구성요소로 오해하지 않도록 분리해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20초. 핵심 문장을 읽고 Q&amp;A로 전환한다.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abd83403942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72e9e770d244b3" /><Relationship Type="http://schemas.openxmlformats.org/officeDocument/2006/relationships/slideLayout" Target="/ppt/slideLayouts/slideLayout1.xml" Id="R3237e7b0e6a249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37e7b0e6a249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3b99e03c7416c" /><Relationship Type="http://schemas.openxmlformats.org/officeDocument/2006/relationships/image" Target="/ppt/media/image.png" Id="Ra7b0cfeb7a654182" /><Relationship Type="http://schemas.openxmlformats.org/officeDocument/2006/relationships/notesSlide" Target="/ppt/notesSlides/notesSlide1.xml" Id="R3c6c933afe9a42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f8692a0fd4880" /><Relationship Type="http://schemas.openxmlformats.org/officeDocument/2006/relationships/notesSlide" Target="/ppt/notesSlides/notesSlide2.xml" Id="R2b35bd653a864c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0ea478bab4648" /><Relationship Type="http://schemas.openxmlformats.org/officeDocument/2006/relationships/image" Target="/ppt/media/image2.png" Id="R32a0f4d1f7044f35" /><Relationship Type="http://schemas.openxmlformats.org/officeDocument/2006/relationships/image" Target="/ppt/media/image3.png" Id="R6557583005354e6d" /><Relationship Type="http://schemas.openxmlformats.org/officeDocument/2006/relationships/notesSlide" Target="/ppt/notesSlides/notesSlide3.xml" Id="Rbe510af50da541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48019082d45f8" /><Relationship Type="http://schemas.openxmlformats.org/officeDocument/2006/relationships/image" Target="/ppt/media/image4.png" Id="R4ab9bf05e3a94555" /><Relationship Type="http://schemas.openxmlformats.org/officeDocument/2006/relationships/notesSlide" Target="/ppt/notesSlides/notesSlide4.xml" Id="R0c6e4b4e25b844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b459775414f58" /><Relationship Type="http://schemas.openxmlformats.org/officeDocument/2006/relationships/notesSlide" Target="/ppt/notesSlides/notesSlide5.xml" Id="Rffdc866dc7aa4b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f818e970c49d9" /><Relationship Type="http://schemas.openxmlformats.org/officeDocument/2006/relationships/image" Target="/ppt/media/image5.png" Id="R48d9e005bd674be2" /><Relationship Type="http://schemas.openxmlformats.org/officeDocument/2006/relationships/notesSlide" Target="/ppt/notesSlides/notesSlide6.xml" Id="R8b969ff49a1e44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59efc59494f3b" /><Relationship Type="http://schemas.openxmlformats.org/officeDocument/2006/relationships/notesSlide" Target="/ppt/notesSlides/notesSlide7.xml" Id="R700abe7326a943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321d4f1564aaa" /><Relationship Type="http://schemas.openxmlformats.org/officeDocument/2006/relationships/image" Target="/ppt/media/image6.png" Id="R4d5526201e8f4f27" /><Relationship Type="http://schemas.openxmlformats.org/officeDocument/2006/relationships/image" Target="/ppt/media/image7.png" Id="R8f5082c582a54f89" /><Relationship Type="http://schemas.openxmlformats.org/officeDocument/2006/relationships/image" Target="/ppt/media/image8.png" Id="Rf763e32d63874326" /><Relationship Type="http://schemas.openxmlformats.org/officeDocument/2006/relationships/image" Target="/ppt/media/image9.png" Id="R22c17356b3e049fe" /><Relationship Type="http://schemas.openxmlformats.org/officeDocument/2006/relationships/notesSlide" Target="/ppt/notesSlides/notesSlide8.xml" Id="Rd1c3fdac5c124b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9c872b7494164" /><Relationship Type="http://schemas.openxmlformats.org/officeDocument/2006/relationships/notesSlide" Target="/ppt/notesSlides/notesSlide9.xml" Id="R92fa5cfe587449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ad214f39e468f" /><Relationship Type="http://schemas.openxmlformats.org/officeDocument/2006/relationships/notesSlide" Target="/ppt/notesSlides/notesSlide10.xml" Id="Re4d8a07f279a45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47e342a114cd2" /><Relationship Type="http://schemas.openxmlformats.org/officeDocument/2006/relationships/notesSlide" Target="/ppt/notesSlides/notesSlide11.xml" Id="R16d32483d4fa49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3e4201ef54e0e" /><Relationship Type="http://schemas.openxmlformats.org/officeDocument/2006/relationships/notesSlide" Target="/ppt/notesSlides/notesSlide12.xml" Id="Rf5588b3fefe846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8F7C1-F35D-4366-875E-5215CE8C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519F0-9DE9-4243-ADB3-708B01CC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DBC6A-8A67-4433-9238-D6D5C317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달리는 순간,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데이터로 읽습니다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DC31A-A2E1-4EAA-AF89-8E75B6B3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러닝 영상을 자세 데이터와 실행 가능한 피드백으로 바꾸는 서비스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8CA21-B521-4BC8-8423-C6CDD083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77AA2-8DA4-49EF-8456-3A330FB7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테무 꽃보다 남자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40C62-FD78-4CAD-AB1B-158E3FE3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박재혁   정승인   정세현   박주환   유한나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0B096-9316-48E0-9854-20571F2E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742950"/>
            <a:ext cx="2686050" cy="54102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0cfeb7a654182"/>
          <a:stretch xmlns:a="http://schemas.openxmlformats.org/drawingml/2006/main"/>
        </p:blipFill>
        <p:spPr>
          <a:xfrm xmlns:a="http://schemas.openxmlformats.org/drawingml/2006/main">
            <a:off x="8648700" y="1016418"/>
            <a:ext cx="2171700" cy="482516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52B92-5E4A-4604-B176-9DD2011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229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RUNNERS EYE</a:t>
            </a:r>
          </a:p>
        </p:txBody>
      </p:sp>
    </p:spTree>
    <p:extLst>
      <p:ext uri="{BB962C8B-B14F-4D97-AF65-F5344CB8AC3E}">
        <p14:creationId xmlns:p14="http://schemas.microsoft.com/office/powerpoint/2010/main" val="212662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1F3FB7-D28D-4BBA-9A55-DDD33725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 ·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6FDF2-31C1-43C7-80E4-9142070C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460D0-9F4E-4308-A9C6-50A5C5E8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팀 구성과 역할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7880D-1428-4F3C-BBA6-D7D75B6F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B568B-6EB5-4CDC-8393-657E01A6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발표 전 각 담당 영역을 입력할 수 있도록 역할 칸을 비워 두었습니다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CFC0C-4C07-456C-B58F-B5443DF9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07B18-61F3-4383-A98E-A9FE296A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박재혁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395A6-156E-466F-AC39-BFBF5A78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D903E-56B4-42F1-BEE3-A3945F33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D27FE-F8B5-465D-8F1C-C0007A17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AACD4-614E-4107-A0F6-2A0BB110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정승인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5BF13-6E1D-40CB-8911-A2CF0C93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57A1A-82E5-405D-B8BF-4E0917BE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D830B-E94C-434B-BFB9-CAC56314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145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52C22-96F0-4C37-9E6D-3E98A912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38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정세현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6FD83-BFBD-4B7C-9C00-29FB2DBA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9D70F-7005-47E1-9099-4F7D8FDD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4290C3-6FBC-44A8-9742-FC73833C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828C9-D633-444A-8D75-051B6888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박주환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53455-86EB-497E-9822-DFB0FF7E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9EAD8-AC39-4B61-B9EB-10742CD2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15E3DA-CC49-414D-90DF-46E381EC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57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7BA58-0373-44EF-92FA-7CC72F33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유한나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90BBE2-4F95-488F-A281-E22595D0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911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B66A33-3A82-4E6C-8B27-19C5525B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역할 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579502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2CF8A-2B1D-4E3E-8BE0-0D9BA3C7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 · 서비스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BB7E9-186C-4845-9A32-BD4A8221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2F0C7-9773-4E43-BD85-CD75882D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러너스아이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35BD2-00C5-471E-A472-0C80B8D7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47930-0DFB-4D36-A335-1C01CD7A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러닝 영상 한 번으로 자세 측정, 설명, 변화 기록까지 연결합니다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CCA3C-EC06-4E9B-AEE0-769920AC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758B3-97A9-4D11-8AEC-D6B8739D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CE7B9-5059-4C2E-B953-D264B984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측면 전신이 보이는 짧은 MP4와 사용자 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F966C-FC60-44EC-9805-7A208969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98E2F-EC0C-437D-AE7C-A52F443B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683EC-4A26-461E-8F08-807167B6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156CC-D639-4769-9FB0-8329F137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관절 좌표에서 네 가지 러닝 자세 특성값 계산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A401D-5E3C-40FC-B6E6-ADD52A22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A0F8D-2C04-4253-B05B-FEFFB81C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2E0F5-8573-413E-BE79-3EA58035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리포트와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E13F4-31A5-43E7-820B-9358854C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측정값, 개선 피드백, 스켈레톤 영상을 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9DC6C-91B6-40B3-9BC9-1711C725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9042E-9C0E-4EF2-967E-D20D3609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1C880-B3CB-426D-B836-507B4F8C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66875"/>
            <a:ext cx="2076450" cy="441007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0f4d1f7044f35"/>
          <a:stretch xmlns:a="http://schemas.openxmlformats.org/drawingml/2006/main"/>
        </p:blipFill>
        <p:spPr>
          <a:xfrm xmlns:a="http://schemas.openxmlformats.org/drawingml/2006/main">
            <a:off x="6953250" y="2035494"/>
            <a:ext cx="1657350" cy="3682362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7583005354e6d"/>
          <a:stretch xmlns:a="http://schemas.openxmlformats.org/drawingml/2006/main"/>
        </p:blipFill>
        <p:spPr>
          <a:xfrm xmlns:a="http://schemas.openxmlformats.org/drawingml/2006/main">
            <a:off x="9372600" y="2035494"/>
            <a:ext cx="1657350" cy="3682362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E7A15E-7A47-4EA8-89A0-7160F043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341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업로드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94899-46F0-4EF4-B8F5-7745A128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341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분석 결과</a:t>
            </a:r>
          </a:p>
        </p:txBody>
      </p:sp>
    </p:spTree>
    <p:extLst>
      <p:ext uri="{BB962C8B-B14F-4D97-AF65-F5344CB8AC3E}">
        <p14:creationId xmlns:p14="http://schemas.microsoft.com/office/powerpoint/2010/main" val="8577182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BE702D-A6A3-48C1-8785-0F0BC5C7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 · 시연 영상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CB877-0D26-4305-99D9-9B127981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0D01F-5F49-4E0D-9C08-13C88868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서비스 시연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360E2-806E-4AAD-945B-DCEE1ACF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80EEB-A022-49CF-9B4D-332305B2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00550"/>
          </a:xfrm>
          <a:prstGeom xmlns:a="http://schemas.openxmlformats.org/drawingml/2006/main" prst="roundRect">
            <a:avLst>
              <a:gd name="adj" fmla="val 2165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9bf05e3a94555"/>
          <a:srcRect xmlns:a="http://schemas.openxmlformats.org/drawingml/2006/main" l="0" t="889" r="0" b="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657350"/>
            <a:ext cx="7620000" cy="4210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DE01C-828A-4E61-B0A3-09BFE015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0515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48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EE6AD-235B-474B-97B4-416869D4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VIDEO PLACEHOLDER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81D84-275E-4262-8CD1-BF7363A6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335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발표용 서비스 시연 영상으로 교체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7450C-AF4C-4D9C-9C13-34FCD3F0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384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4F2A5-860E-4E79-8264-344F2A1C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선택과 분석 요청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FA746-2D10-43D3-837E-0D449119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87C82-4662-4673-9AF2-DE63BC5E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75198-AC86-4A6C-A373-59B72DA3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146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진행 상태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B38DD-1C0F-4D7A-B7E7-B50AE1FF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A540F-B82B-4700-9BB6-1BB5E867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BAFDC4-DE18-43BE-B464-93ECFCEB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004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자세 점수와 핵심 피드백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47369-2944-4539-AC19-2EA362D7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693EB-63D9-400C-833D-15A9BB5C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79C802-7E21-4C0B-AA9E-626C9A51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862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기록 화면 재조회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4977D9-186D-42D8-A707-2F0F9AAB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335C38-1AE1-47B4-9B89-19BBD72A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34000"/>
            <a:ext cx="2895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C100BB-7932-4943-961E-ABEB8BD4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673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현재는 Coach 출력 영상의 대표 프레임입니다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영상 파일을 받으면 같은 영역에 교체합니다</a:t>
            </a:r>
          </a:p>
        </p:txBody>
      </p:sp>
    </p:spTree>
    <p:extLst>
      <p:ext uri="{BB962C8B-B14F-4D97-AF65-F5344CB8AC3E}">
        <p14:creationId xmlns:p14="http://schemas.microsoft.com/office/powerpoint/2010/main" val="6788627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247CC6-9D2E-4917-A774-B7F22091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F4C37-D42E-4E84-A045-5E9A7DE0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6BA4F-D2EA-44E8-A774-99EEDB96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main.sh 실행 파이프라인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E0146-80FB-4237-B26C-32EE1FC5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2C74C-57FC-4E70-8BBD-431E2467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각 단계는 앞 단계가 종료된 뒤 실행되며 outputs 폴더의 파일을 다음 단계가 읽습니다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3B287-C918-4A06-BD16-4D596F48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809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56E35-FD0D-4A90-87E6-7252EBF4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RUN FOLDER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DD04C-D3BD-475E-89C5-8F7DD9DB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MP4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44573-AE6A-4983-A8B6-76476060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user_info.json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562FB-E487-4FCE-B1A6-0C4B8326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09800"/>
            <a:ext cx="22860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AC5D4-8CD0-459E-8F21-F1963CB0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003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5D54F-8761-4BB5-A6D1-13F583C2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F6FFE-30C8-4C96-83D1-B8D251CA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81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hpe.sh / hpe.py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5C7D4-26AA-476C-A697-F2C5E29E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62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프레임 루프와 렌더링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29779-8128-4D24-BED9-D3B18765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9800"/>
            <a:ext cx="22860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60E4A-6C3B-4E80-99F9-F9583931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BA1EC-2B9E-43A2-8408-6C808A73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6FA64-C9AF-42EA-A10E-F54831D8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feature_extract.py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D04D7-4740-48B9-B486-F6DF1ADA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PoseSequence와 4개 피처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F26E6-5C3D-4D19-B778-0E011DA3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09800"/>
            <a:ext cx="22860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5A09E7-A1BD-405E-8641-88CE12A3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2F81DF-0C39-4ABD-A2B6-82E3AD89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030A5E-6D32-42C9-AC68-8D5F8123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Running_coach.py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157437-403F-419B-B407-B03B61FC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62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gpt-5-nano 리포트</a:t>
            </a:r>
          </a:p>
        </p:txBody>
      </p:sp>
      <p:cxnSp>
        <p:nvCxnSpPr>
          <p:cNvPr id="65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09800" y="31432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200650" y="31432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91500" y="31432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86F001-3117-4E5B-8AFA-066CD4AF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9580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98C499-21A5-4FBC-9F96-D86085E5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672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HPE 산출물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2B74AA-DA40-41C2-A58E-7A13B322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101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pose_predictions.json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details.json · output.mp4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951B6A-A915-4CAA-AC28-441ACCAD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8D8B29-3CCC-43E3-8BD8-89A3D2E8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FEATURE 산출물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CCFC46-B96E-41BB-BF2C-FC907442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673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feature_results.json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08A054-2B04-4574-B40C-D9DE1FF0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9580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6D4644-71B8-4831-A1B0-E8F930AC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672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AGENT 산출물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25BF8A-9B2F-4F3E-9B97-F138E7C8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673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running_report.md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7A2F2A-972D-4394-A702-6806AF62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5752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완료 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610E68-DFDA-4725-8E95-1C0C9741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5752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완료 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25AB0E-C5A4-482B-BBD9-E50551D1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0782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76D7BD-793C-4620-BF5D-87AA0F6A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67425"/>
            <a:ext cx="1040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Agent는 --agent false일 때 생략됩니다. 피처 추출은 HPE 내부 프레임 루프에서 실행되지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5562509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E375C8-360F-44D1-A299-D46081B8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AC910-5A57-48D8-93B0-F9637DD7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8D395-67A1-456B-A5E2-7BA44DE8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영상에서 HPE 데이터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D6C9A-95F3-43DE-A040-D16B9A78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4B6C9-A902-4464-8D70-BA07925A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프레임을 저장하지 않고 영상 스트림에서 사람과 26개 관절을 추정합니다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6F8B6-EDB7-48E3-A911-67AB6B3B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C92A6-2C8C-4EE7-879B-5B97713E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669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OpenCV 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A7C50-52A7-4A40-B7B0-E04B21F3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FPS, 프레임 수, 해상도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E7F56-3758-4051-9FEC-289EED00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69503-1829-41F8-B3DE-E6FF324F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81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RTMDet-nano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634AF-9667-4F22-97F2-85666829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프레임마다 사람 bounding box 검출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DD91A-369D-4753-AD60-A0D95FC0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2EE24-B88F-4E8B-905E-26AD726E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95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RTMPose-M Halpe-26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77C9D-3C9D-44F3-868A-8B00F1A8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26개 관절 좌표와 confidence 계산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D1C90-EE93-451F-9281-64D7DB27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8B866-9698-45AF-BF83-4F576B26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01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주 대상 트래킹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58B3D-3661-4A73-9DD1-1B6AB49B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IoU와 bbox score로 한 명의 track_id 유지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0FD7E-EE33-410C-9F45-33B03DB3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4476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C8F386-5ABB-443B-AB77-11F7ABE9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산출물  pose_predictions.json · details.json · output.mp4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3B3BF-D4E0-42C4-8561-ADE94A90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33550"/>
            <a:ext cx="53911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9e005bd674be2"/>
          <a:srcRect xmlns:a="http://schemas.openxmlformats.org/drawingml/2006/main" l="11800" t="0" r="118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1828800"/>
            <a:ext cx="5200650" cy="38290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875BE-8F46-4B34-A873-B4105DE1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67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RTMPose 렌더링 결과</a:t>
            </a:r>
          </a:p>
        </p:txBody>
      </p:sp>
    </p:spTree>
    <p:extLst>
      <p:ext uri="{BB962C8B-B14F-4D97-AF65-F5344CB8AC3E}">
        <p14:creationId xmlns:p14="http://schemas.microsoft.com/office/powerpoint/2010/main" val="1307635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4FBB61F-8FE6-4895-A3D6-7225E5FF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F227A-D5AB-440D-A1F6-AC816C60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8D5D7-ED99-4405-BBF2-624D9972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Coach 분석 파이프라인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96933-2D2C-4E74-BC2B-5EF072A9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949BB-53D2-4BB7-B13F-69BE4DAE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영상 프레임의 관절을 보간한 뒤 HPE 산출물과 코칭 리포트를 순차 생성합니다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EB164-E7C2-464C-BDAF-FD4052B7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10490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3FD50-0605-4AE5-A57B-B162184E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A8CF3-AA2C-459D-A6AC-A9EDA224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24150"/>
            <a:ext cx="14287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B9FF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B2857-34E6-4E9B-8602-FC101ACC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3370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프레임 단위로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분할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C83A5-BEAC-4D43-A75E-BC85AECB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09750"/>
            <a:ext cx="2571750" cy="27813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01FF0-4A8F-42F8-8A12-AD85B8BB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431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FRAME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BC24E-679A-414B-A5B4-689393E9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28850"/>
            <a:ext cx="1847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FB3E5-F464-4162-B791-C92E6CE5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RTMDet 사람 검출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475B5-09EE-4F7E-BDC0-404F4591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71800"/>
            <a:ext cx="18478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95757-225D-4CA4-A08F-FE7B5C56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3372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bbox 화면 경계 검사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4AAA7-D9ED-41A6-A7B1-5B27CF6B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71900"/>
            <a:ext cx="18478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E5786-BE82-4802-A100-C286EBD5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3382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 · frame_info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F6569-1D38-4F4F-AE50-98ABBB60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62150"/>
            <a:ext cx="165735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E64A1-C9E3-4444-A2D0-DFE8FFD3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336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5개 프레임 임시 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839EC-18D0-446D-8A64-E1E93C30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336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t-2  t-1  t  t+1  t+2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687014-71FA-40D5-9A8A-33D93C23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27813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489EBF-BBF0-48D0-9CB2-56E73CD0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1930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INTERPOLATION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BB6630-3F7E-43E6-8DBD-AB3AA852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289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8A09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9C25EA-FB97-499E-A240-846760DF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1828800" cy="495300"/>
          </a:xfrm>
          <a:custGeom xmlns:a="http://schemas.openxmlformats.org/drawingml/2006/main">
            <a:pathLst>
              <a:path w="1828800" h="495300">
                <a:moveTo>
                  <a:pt x="0" y="438150"/>
                </a:moveTo>
                <a:lnTo>
                  <a:pt x="457200" y="228600"/>
                </a:lnTo>
                <a:lnTo>
                  <a:pt x="914400" y="114300"/>
                </a:lnTo>
                <a:lnTo>
                  <a:pt x="1371600" y="257175"/>
                </a:lnTo>
                <a:lnTo>
                  <a:pt x="182880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5F7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C84420-6184-40D2-8E72-D7B1AD53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FE39E3-D228-461E-B5A4-66C09434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43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E2572C-AA07-4FCD-ADE0-1FA3CF94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3345E8-8DB8-42BE-AE93-7DB37AAC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003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F0DC03-A613-4C13-9EBD-7BB9BE4D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733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F6B3C1-6323-40A3-AF43-D6581660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t-1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8E8BE4-14C9-4BF5-8845-D5BC0C72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7242EA-75C7-4008-87AB-29383774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619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19050">
            <a:solidFill>
              <a:srgbClr val="F4C8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EBE39A-714D-464E-9494-B57C2B66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385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270F9C-0157-4245-90C5-48F59F0D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003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D4C6A2-3DD7-4203-93C4-94748540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62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0D945D-96C8-49B6-96A7-E8AA8774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823A59-A3C7-433F-B435-E4A11B80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003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dash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BB143E-E509-47BE-AFDB-CCD36D16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3000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2C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B3876D-74A3-484A-B480-E2788768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t+2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FC101E-26EC-4541-BABF-57F776F4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47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19050">
            <a:solidFill>
              <a:srgbClr val="F4C84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03376C-3F8C-4E60-BF04-A6F49D2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622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4C84B"/>
            </a:solidFill>
            <a:prstDash val="dash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B17166-4BB7-4371-A765-96E42C4F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22885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누락 관절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ECE769-7F51-4418-BAF5-44AEF4D0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72050"/>
            <a:ext cx="19431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6842A2-983C-4F5F-BA88-9404BF47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5302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t-2 렌더링 · 저장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14C2DF-8DCB-436D-A3E9-DE8DF395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10200"/>
            <a:ext cx="1600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popleft()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1B87EA-F8AF-4EB1-8E64-CD9928AE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14900"/>
            <a:ext cx="1562100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7E0362-26D1-4047-8399-BE588332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482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HPE 완료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84343A-916D-4951-AC5C-CFAF507F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3530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JSON 2개 + MP4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32B2A6-AAC0-4DE2-921B-667FD67D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10150"/>
            <a:ext cx="10668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39FB8C-0FB5-4C41-92FB-1C02F1DF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1339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추출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0B1293-9334-4474-901F-06B025B9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53050"/>
            <a:ext cx="914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+ user_info.json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6DC182-E679-462D-A24C-D247D608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010150"/>
            <a:ext cx="78105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06E43D-09D6-4EE3-A9B8-B6389C07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2101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Agent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8CB596-2615-4A6F-AF81-64D8BE1D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010150"/>
            <a:ext cx="7239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62ACF2-3136-43B2-BF57-7EE573CE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2101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Report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316E96-3049-4EB5-B8CE-81B606F3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48100"/>
            <a:ext cx="1047750" cy="7429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BE98294-2E18-4AED-99EB-44138F4D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981450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PROMPT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1B3BADA-FA4E-49E8-8C72-5F19EBD0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2100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persona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instruction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features</a:t>
            </a:r>
          </a:p>
        </p:txBody>
      </p:sp>
      <p:cxnSp>
        <p:nvCxnSpPr>
          <p:cNvPr id="13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504950" y="31527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36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3238500" y="2476500"/>
            <a:ext cx="80010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37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4962525" y="27241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38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4962525" y="35052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39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5886450" y="2428875"/>
            <a:ext cx="933450" cy="1609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40" name=""/>
          <p:cNvCxnSpPr>
            <a:stCxn xmlns:a="http://schemas.openxmlformats.org/drawingml/2006/main" id="14" idx="3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5886450" y="2895600"/>
            <a:ext cx="1762125" cy="342900"/>
          </a:xfrm>
          <a:prstGeom xmlns:a="http://schemas.openxmlformats.org/drawingml/2006/main" prst="bentConnector2">
            <a:avLst/>
          </a:prstGeom>
          <a:ln xmlns:a="http://schemas.openxmlformats.org/drawingml/2006/main" w="9525">
            <a:solidFill>
              <a:srgbClr val="F4C84B"/>
            </a:solidFill>
            <a:prstDash val="dash"/>
            <a:tailEnd type="arrow" w="med" len="med"/>
          </a:ln>
        </p:spPr>
      </p:cxnSp>
      <p:cxnSp>
        <p:nvCxnSpPr>
          <p:cNvPr id="141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477250" y="2428875"/>
            <a:ext cx="28575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42" name=""/>
          <p:cNvCxnSpPr>
            <a:stCxn xmlns:a="http://schemas.openxmlformats.org/drawingml/2006/main" id="21" idx="2"/>
            <a:endCxn xmlns:a="http://schemas.openxmlformats.org/drawingml/2006/main" id="43" idx="3"/>
          </p:cNvCxnSpPr>
          <p:nvPr/>
        </p:nvCxnSpPr>
        <p:spPr>
          <a:xfrm xmlns:a="http://schemas.openxmlformats.org/drawingml/2006/main" flipH="1">
            <a:off x="6915150" y="3505200"/>
            <a:ext cx="3238500" cy="18002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43" name=""/>
          <p:cNvCxnSpPr>
            <a:stCxn xmlns:a="http://schemas.openxmlformats.org/drawingml/2006/main" id="43" idx="1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2524125" y="3581400"/>
            <a:ext cx="2447925" cy="17240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med" len="med"/>
          </a:ln>
        </p:spPr>
      </p:cxnSp>
      <p:cxnSp>
        <p:nvCxnSpPr>
          <p:cNvPr id="144" name=""/>
          <p:cNvCxnSpPr>
            <a:stCxn xmlns:a="http://schemas.openxmlformats.org/drawingml/2006/main" id="43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6915150" y="53054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med" len="med"/>
          </a:ln>
        </p:spPr>
      </p:cxnSp>
      <p:cxnSp>
        <p:nvCxnSpPr>
          <p:cNvPr id="145" name=""/>
          <p:cNvCxnSpPr>
            <a:stCxn xmlns:a="http://schemas.openxmlformats.org/drawingml/2006/main" id="46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8782050" y="5305425"/>
            <a:ext cx="2667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46" name=""/>
          <p:cNvCxnSpPr>
            <a:stCxn xmlns:a="http://schemas.openxmlformats.org/drawingml/2006/main" id="49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0115550" y="53149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47" name=""/>
          <p:cNvCxnSpPr>
            <a:stCxn xmlns:a="http://schemas.openxmlformats.org/drawingml/2006/main" id="52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11087100" y="53149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148" name=""/>
          <p:cNvCxnSpPr>
            <a:stCxn xmlns:a="http://schemas.openxmlformats.org/drawingml/2006/main" id="56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10696575" y="45910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4C84B"/>
            </a:solidFill>
            <a:prstDash val="dash"/>
            <a:tailEnd type="arrow" w="med" len="me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AD5012A-F6E0-4483-B69F-74EA7F47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71850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실패 · 화면 밖  frame_info=None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B663C29-CEFE-4914-B72E-916297A9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8630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다음 프레임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E068968-598C-477E-B46C-E34049E9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1970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영상 종료 후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FE9905-3A1A-4E88-B338-93DC62A0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8674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HPE 전체 완료 후 다음 단계 실행</a:t>
            </a:r>
          </a:p>
        </p:txBody>
      </p:sp>
    </p:spTree>
    <p:extLst>
      <p:ext uri="{BB962C8B-B14F-4D97-AF65-F5344CB8AC3E}">
        <p14:creationId xmlns:p14="http://schemas.microsoft.com/office/powerpoint/2010/main" val="10335841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355300-0FAB-456B-8ACC-BD2FA6DB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C013E-5EA2-4F54-82F3-B38572A0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31AE0-5746-41EE-B354-17BFCBEF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네 가지 자세 피처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82D63-1F58-4921-A5E7-739DE3DA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FB137-C72A-4708-AB7F-3606177D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pose_predictions.json, details.json, user_info.json을 PoseSequence로 묶어 네 가지 피처를 계산합니다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81D8E-326C-415D-B6C5-90A501F8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526201e8f4f27"/>
          <a:stretch xmlns:a="http://schemas.openxmlformats.org/drawingml/2006/main"/>
        </p:blipFill>
        <p:spPr>
          <a:xfrm xmlns:a="http://schemas.openxmlformats.org/drawingml/2006/main">
            <a:off x="863043" y="2057400"/>
            <a:ext cx="1588614" cy="2952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B322B-EAC8-4E6F-B3FD-0610CBD4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9C78E-662E-4E0A-9EC3-7B62484F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골반 수직 진동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245BE-3A33-4E6A-8A05-A59571CE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접지 중 골반 높이 변화 ÷ 신장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92F4C-F211-464F-BE92-5202D7D9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082c582a54f89"/>
          <a:stretch xmlns:a="http://schemas.openxmlformats.org/drawingml/2006/main"/>
        </p:blipFill>
        <p:spPr>
          <a:xfrm xmlns:a="http://schemas.openxmlformats.org/drawingml/2006/main">
            <a:off x="37404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580BF-601C-4017-B6EF-BB138C0E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C7774-84BE-4FE2-96CB-C548B113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팔꿈치 각도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569A6-5970-4378-91F4-F7EC3853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한 스트라이드의 각도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6AA6F-E99B-43DB-B316-884281DE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3e32d63874326"/>
          <a:stretch xmlns:a="http://schemas.openxmlformats.org/drawingml/2006/main"/>
        </p:blipFill>
        <p:spPr>
          <a:xfrm xmlns:a="http://schemas.openxmlformats.org/drawingml/2006/main">
            <a:off x="661700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3D7CE-40D2-4144-81ED-05BFF493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5B7F0-15F8-4A54-A75A-FF63582F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몸통 굴곡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641F56-347E-4F33-B35A-0FAB837A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어깨 중심과 골반 중심의 기울기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22D130-DEBB-4523-8B6E-AF714466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62150"/>
            <a:ext cx="2514600" cy="3143250"/>
          </a:xfrm>
          <a:prstGeom xmlns:a="http://schemas.openxmlformats.org/drawingml/2006/main" prst="roundRect">
            <a:avLst>
              <a:gd name="adj" fmla="val 3788"/>
            </a:avLst>
          </a:prstGeom>
          <a:solidFill xmlns:a="http://schemas.openxmlformats.org/drawingml/2006/main">
            <a:srgbClr val="02030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17356b3e049fe"/>
          <a:stretch xmlns:a="http://schemas.openxmlformats.org/drawingml/2006/main"/>
        </p:blipFill>
        <p:spPr>
          <a:xfrm xmlns:a="http://schemas.openxmlformats.org/drawingml/2006/main">
            <a:off x="9493556" y="2057400"/>
            <a:ext cx="1586887" cy="2952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A4673B-04A7-410B-831A-E94EA4E1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768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A68535-4FDB-4E0F-B107-1B80DB3E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23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전방 자세 기울기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779F0-4C74-44D7-9D95-2D611DD6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81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목과 발목을 잇는 선의 각도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B0E9BA-639C-493D-9AE1-1C1D4C89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9B89B5-CD9C-48F8-80AF-9B853A86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19825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cal_stride, pixel2m, gct 이후 feature1~4 실행 · feature_results.json 저장</a:t>
            </a:r>
          </a:p>
        </p:txBody>
      </p:sp>
    </p:spTree>
    <p:extLst>
      <p:ext uri="{BB962C8B-B14F-4D97-AF65-F5344CB8AC3E}">
        <p14:creationId xmlns:p14="http://schemas.microsoft.com/office/powerpoint/2010/main" val="20777683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D8FCCE-0AB4-42A6-BD52-6E603E49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 · 분석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E66C6-4E5C-4817-AF3D-6A31FC2A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DEFAD-4060-482E-BCBC-E6AC6DF3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판정 로직과 Coach 에이전트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56243-5804-42E7-82AD-3AFBB6F1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ECA7A-DD81-46A2-AEBF-A5B596DE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수치 계산과 문장 생성을 분리해 결과의 근거를 추적할 수 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7F0C3-8C86-4F75-AF4A-02560DBE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DETERMINISTIC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77693-DBCA-4906-8518-D341CC57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피처 계산과 구간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84CAA-C9DB-4A52-BB27-8F80B143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426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feature_results.json에 측정값, 기준 구간,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행동 지시, 결과 해석을 구조화해 저장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CE2D8-AFE6-4143-9C4E-08B8F964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417195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8679C-3710-491D-9F21-FE461CBD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value,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range 또는 boundary,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  instruction, outcome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B22DD-0F34-4F67-8EC2-B6BBFC08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4개 피처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66DF1-6982-4C6A-908B-51C0D329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Rule Base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069CD-665E-487D-99C3-60B1AE38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52625"/>
            <a:ext cx="190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AF4B1-AF13-4669-A3DB-42B630FD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38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LANGCHAIN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5C38B-2D7C-4096-954F-B121A217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62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gpt-5-nano가 리포트 작성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38D0D-C781-4A74-84EB-780CB9C6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현재 Coach 코드는 feature_results.json만 모델에 전달합니다.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모델은 수치를 다시 계산하지 않고 설명 문장을 작성합니다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440ED-2E66-4E48-B899-E3C2DAD1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19EB7-5D3D-4465-9B05-8DA03A4C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8A10B0-5A84-4B08-A47C-525B5558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feature_results.json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8F90E3-CFCF-4CA0-B27D-95FF69A9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16002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CB581B-AFD2-4492-9A3D-840F8E99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모델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D63807-C758-4B44-9F8C-A72470B4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gpt-5-nano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CFD17-0104-4699-9265-5442A6C6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0450"/>
            <a:ext cx="16002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768D66-CA88-4B4F-A2D0-578E027E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76650"/>
            <a:ext cx="1409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PERSONA + INSTRUCTION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B93D1E-6BC3-47FE-AE46-002ED749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62400"/>
            <a:ext cx="13906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A89941-DFC2-454C-A64F-B3F92B61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148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9A6BAD-B9C9-425A-8907-05E143F4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386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running_report.md</a:t>
            </a:r>
          </a:p>
        </p:txBody>
      </p: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56285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715500" y="44100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23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915400" y="38671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4C84B"/>
            </a:solidFill>
            <a:prstDash val="dash"/>
            <a:tail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3849A4-6F6E-4904-860C-F8071219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34000"/>
            <a:ext cx="5695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E1062D-B1A2-4886-9475-8F4D8314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24500"/>
            <a:ext cx="531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현재 Coach 구현 모델  gpt-5-nano · 기존 PPT의 모델 표기를 코드 기준으로 업데이트</a:t>
            </a:r>
          </a:p>
        </p:txBody>
      </p:sp>
    </p:spTree>
    <p:extLst>
      <p:ext uri="{BB962C8B-B14F-4D97-AF65-F5344CB8AC3E}">
        <p14:creationId xmlns:p14="http://schemas.microsoft.com/office/powerpoint/2010/main" val="7347737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790F22E-E4A7-4D70-B8BB-DA16D405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 · 인프라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A760F-D0DD-4520-98E8-CE7354D0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8A6BF-926F-4137-96DE-0538BBD1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러너스아이 기술 아키텍처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60F2D-E60F-47CD-8F2F-55418F4A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5CD0A-42DF-45E8-9CBC-1B5A1889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원본 구조도의 객체 위치와 요청·데이터 흐름을 유지했습니다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7D5BA-45C0-449D-A713-E3310192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390650" cy="39624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61E1B-73C3-4C2D-B90F-85E5336E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사용자 · 외부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55801-FAEB-4DBD-B655-3F48698D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933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13482-DB05-4590-B9E0-6ACFB468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사용자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07FCD-3AA4-4592-B829-D62FB8F4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10096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58842-3721-4D74-96F9-C5473B99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Browser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AD176-34FF-42B8-BD13-150F61A3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790700"/>
            <a:ext cx="767715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1F9EE-B4DC-47CA-8E13-032A1E06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05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웹 · API 계층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DF838-6F15-4C27-BB04-9F4B8DC9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1352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11E16-BFBD-4EAD-8619-3334FB6E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193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Next.js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58A0B-26D2-46DE-9F4B-482008ED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90750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48472-C9EE-49AE-A607-C2578E10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193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Nginx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FE460-D6BF-45FD-8474-81DE8B8E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1352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67BE7B-DE4A-4826-BEFA-1B58AE38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FastAPI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D962C-8656-4788-932A-D1A17402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7185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비동기 추론 파이프라인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FCA3B-B4A1-43BA-9C66-422B23A9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43350"/>
            <a:ext cx="1200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D00E1D-F4FD-4F21-AADE-66148D77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719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PostgreSQL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94E84-0351-4CC4-8B6D-6C645B08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38650"/>
            <a:ext cx="742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QUEUED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306914-5981-434A-AA1E-A988D3F8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43350"/>
            <a:ext cx="990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A0C49F-201B-4C19-8211-E41EF9CD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Redis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7062BF-AD34-4D31-8C44-AA48FF06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43350"/>
            <a:ext cx="990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42E9E5-72C6-4CC1-A75E-FBC681D4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719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Celery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1B62D8-A66C-40ED-B6B4-0BD75BD6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71900"/>
            <a:ext cx="1219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079743-7E48-43AA-B9A4-CC5F2735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2430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GPU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1FE60B-4ECB-4376-AAD5-B8DC4EED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Inference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Worker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8222DD-E6DB-400A-8ECC-353321D1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1333500" cy="17716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EA3A66-22AD-4885-9E35-7E5D6678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7CEB3E-4A27-428F-9A8D-177952AF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62375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OpenCV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05F7E8-E851-4225-84B5-3441D9F3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71925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39F974-903E-4E4F-AD99-0CA0AFB2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B3C161-585C-4E7D-8F56-D6BD7B30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29100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1054DF-1F32-47B0-B6AB-B65D30A1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76725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Metrics &amp;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743875-7CAA-4F93-AFDE-77707E03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86275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F45FA2-70E6-45BB-910B-6A0F8632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Ollama · 선택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689FCF-BFE6-4243-85CC-1D0E8DB9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43450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23D9A0-B473-4325-91DD-3FE65C9F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91075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Joint Overlay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AE1AE5-02D8-45C8-BB22-4CE44E18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00625"/>
            <a:ext cx="11049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4282BC-1F9B-41C1-BABA-137415D1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99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Result Packager</a:t>
            </a:r>
          </a:p>
        </p:txBody>
      </p:sp>
      <p:cxnSp>
        <p:nvCxnSpPr>
          <p:cNvPr id="136" name=""/>
          <p:cNvCxnSpPr>
            <a:stCxn xmlns:a="http://schemas.openxmlformats.org/drawingml/2006/main" id="32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8686800" y="3924300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37" name=""/>
          <p:cNvCxnSpPr>
            <a:stCxn xmlns:a="http://schemas.openxmlformats.org/drawingml/2006/main" id="34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8686800" y="4181475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38" name=""/>
          <p:cNvCxnSpPr>
            <a:stCxn xmlns:a="http://schemas.openxmlformats.org/drawingml/2006/main" id="36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8686800" y="4438650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4C84B"/>
            </a:solidFill>
            <a:prstDash val="dash"/>
            <a:tailEnd type="arrow" w="sm" len="sm"/>
          </a:ln>
        </p:spPr>
      </p:cxnSp>
      <p:cxnSp>
        <p:nvCxnSpPr>
          <p:cNvPr id="139" name=""/>
          <p:cNvCxnSpPr>
            <a:stCxn xmlns:a="http://schemas.openxmlformats.org/drawingml/2006/main" id="38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8686800" y="4695825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40" name=""/>
          <p:cNvCxnSpPr>
            <a:stCxn xmlns:a="http://schemas.openxmlformats.org/drawingml/2006/main" id="40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8686800" y="4953000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FF2C"/>
            </a:solidFill>
            <a:prstDash val="solid"/>
            <a:tailEnd type="arrow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55A26B-42DF-4D6A-8A3F-BE5E1657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1981200" cy="3962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70A08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7B5813-1C5E-4980-A86E-17244215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05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데이터 · 결과 저장소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171C34-B080-4DB1-98FF-C7342120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09800"/>
            <a:ext cx="1562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4EB3CC-56F7-4D65-82DF-CDE32713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Raw Bucket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45D2DF-6084-4B4D-B399-B8F7930D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051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원본 MP4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32DEA5-7E08-4828-9416-D8F5051E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29100"/>
            <a:ext cx="1562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BBC9EB-FF22-4B74-90CF-D9619B83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196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Results Bucket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6B146C-5DA2-4BD1-B7A8-64FA799C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762500"/>
            <a:ext cx="1181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JSON ×3 + MP4</a:t>
            </a:r>
          </a:p>
        </p:txBody>
      </p:sp>
      <p:cxnSp>
        <p:nvCxnSpPr>
          <p:cNvPr id="149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095375" y="27241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50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1600200" y="2533650"/>
            <a:ext cx="685800" cy="847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51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638550" y="25336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52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314950" y="25336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53" name=""/>
          <p:cNvCxnSpPr>
            <a:stCxn xmlns:a="http://schemas.openxmlformats.org/drawingml/2006/main" id="18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7296150" y="2533650"/>
            <a:ext cx="27241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54" name=""/>
          <p:cNvCxnSpPr>
            <a:stCxn xmlns:a="http://schemas.openxmlformats.org/drawingml/2006/main" id="14" idx="2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2962275" y="2876550"/>
            <a:ext cx="3657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155" name=""/>
          <p:cNvCxnSpPr>
            <a:stCxn xmlns:a="http://schemas.openxmlformats.org/drawingml/2006/main" id="18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2981325" y="2876550"/>
            <a:ext cx="3638550" cy="1066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56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581400" y="43053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57" name="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895850" y="43053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58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210300" y="43053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59" name=""/>
          <p:cNvCxnSpPr>
            <a:stCxn xmlns:a="http://schemas.openxmlformats.org/drawingml/2006/main" id="51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7143750" y="3048000"/>
            <a:ext cx="3657600" cy="723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160" name=""/>
          <p:cNvCxnSpPr>
            <a:stCxn xmlns:a="http://schemas.openxmlformats.org/drawingml/2006/main" id="28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7753350" y="3819525"/>
            <a:ext cx="38100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sm" len="sm"/>
          </a:ln>
        </p:spPr>
      </p:cxnSp>
      <p:cxnSp>
        <p:nvCxnSpPr>
          <p:cNvPr id="161" name=""/>
          <p:cNvCxnSpPr>
            <a:stCxn xmlns:a="http://schemas.openxmlformats.org/drawingml/2006/main" id="42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V="1">
            <a:off x="9239250" y="4676775"/>
            <a:ext cx="7810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9D0"/>
            </a:solidFill>
            <a:prstDash val="solid"/>
            <a:tailEnd type="arrow" w="sm" len="sm"/>
          </a:ln>
        </p:spPr>
      </p:cxnSp>
      <p:cxnSp>
        <p:nvCxnSpPr>
          <p:cNvPr id="162" name=""/>
          <p:cNvCxnSpPr>
            <a:stCxn xmlns:a="http://schemas.openxmlformats.org/drawingml/2006/main" id="28" idx="2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H="1" flipV="1">
            <a:off x="2981325" y="4667250"/>
            <a:ext cx="4162425" cy="171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98A099"/>
            </a:solidFill>
            <a:prstDash val="solid"/>
            <a:tailEnd type="arrow" w="sm" len="sm"/>
          </a:ln>
        </p:spPr>
      </p:cxnSp>
      <p:cxnSp>
        <p:nvCxnSpPr>
          <p:cNvPr id="163" name=""/>
          <p:cNvCxnSpPr>
            <a:stCxn xmlns:a="http://schemas.openxmlformats.org/drawingml/2006/main" id="54" idx="0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 flipV="1">
            <a:off x="7296150" y="2533650"/>
            <a:ext cx="3505200" cy="16954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F5F7F5"/>
            </a:solidFill>
            <a:prstDash val="solid"/>
            <a:tailEnd type="arrow" w="sm" len="sm"/>
          </a:ln>
        </p:spPr>
      </p:cxnSp>
      <p:cxnSp>
        <p:nvCxnSpPr>
          <p:cNvPr id="164" name=""/>
          <p:cNvCxnSpPr>
            <a:stCxn xmlns:a="http://schemas.openxmlformats.org/drawingml/2006/main" id="10" idx="2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1095375" y="2533650"/>
            <a:ext cx="4848225" cy="11430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42D9D0"/>
            </a:solidFill>
            <a:prstDash val="dash"/>
            <a:tailEnd type="arrow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4CC3506-3E90-4340-A210-1B08B5F3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POST /api/uploads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00C6AF6-C812-4616-A84E-C46F7C4D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0250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X-API-Key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6AA77B7-AFD9-4B31-B84E-8F5DCFDF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860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5  임시 업로드 URL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AB233D6-6C8B-415F-87E3-97CBE0FA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70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6  PUT video/mp4  ·  7  complete  ·  8  HEAD 검증  ·  9  POST /jobs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5122988-4600-4B24-B2D0-7D590CE9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76650"/>
            <a:ext cx="1371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10  INSERT · QUEUED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D62E0B3-1318-44C0-B0BE-F00A072B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1009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11  작업 발행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2A01CFF-7693-4F7C-94F6-BB8E1E30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1009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12  작업 전달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5D69B3A-0A09-47E6-8A93-D87E5A9C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19700"/>
            <a:ext cx="2228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13  PROCESSING · 17  SUCCESS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36231AD-3BC1-47A5-9E74-D4FED02D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76600"/>
            <a:ext cx="933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14  input.mp4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AA0D319-D7B8-4661-AF46-42E24AAA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05400"/>
            <a:ext cx="933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16  결과 업로드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EE8BA12-8F3E-4032-A435-4545C9C0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67350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18  GET /jobs/{job_id} · 2.5초 폴링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7D122FC-5FDD-46CC-A884-CF1180AF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43250"/>
            <a:ext cx="1371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19  결과 URL + 리포트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5D50477-A311-4773-9614-CEBECA07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055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관찰 가능성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722A403-4F77-4C8A-802F-8E34F148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055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 로그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D5641D4-A5C8-4CAA-B30C-A7B7DE0C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추론 로그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1B30FD1-0AD9-479B-9388-D2C47D5D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055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작업 메트릭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975D0F6-56A2-4B66-BCBA-33D194DA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GPU 메트릭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070ACA5-300A-4FC5-836D-C90595C6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055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실패 알림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8642D7D-4D3A-46DD-993B-53346742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10300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검정  API·제어 흐름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8E2F34A-E096-4F91-918D-79181917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210300"/>
            <a:ext cx="146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defRPr>
            </a:pPr>
            <a:r>
              <a:rPr sz="600" b="0">
                <a:solidFill>
                  <a:srgbClr val="42D9D0"/>
                </a:solidFill>
                <a:latin typeface="Pretendard"/>
                <a:ea typeface="Pretendard"/>
                <a:cs typeface="Pretendard"/>
              </a:rPr>
              <a:t>청록  영상·결과 데이터</a:t>
            </a:r>
          </a:p>
        </p:txBody>
      </p:sp>
    </p:spTree>
    <p:extLst>
      <p:ext uri="{BB962C8B-B14F-4D97-AF65-F5344CB8AC3E}">
        <p14:creationId xmlns:p14="http://schemas.microsoft.com/office/powerpoint/2010/main" val="18182495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9C41E6-6290-408A-8A98-598693D4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 · 인프라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57CDE-EBA4-4677-8592-6058312D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8DD14-4E6F-4C99-AF42-0977C93C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분석 Worker와 결과 전달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A9A91-5A09-4D78-8464-73F69EA2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7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458ED-37CD-420E-AFBD-E26DD14F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GPU Worker가 분석 산출물을 패키징하고, 결과 URL과 리포트를 API로 돌려줍니다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BC005-5FC1-4965-8622-F51FB833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GPU INFERENCE WORKER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1C967-B4A8-460B-A625-DB1A19A8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FE07C-BA83-44A3-BBFB-EA8E18B7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48BEB-BB99-48CC-936A-A511D76C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OpenCV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7C932-AE9E-4103-93E2-CED25EC2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input.mp4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EE3F7-EEF1-4443-8956-FFA753CC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5AF74-B8F5-4144-939B-685E1027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22BF9-105B-4EE4-B65B-78ECBF1B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RTMPose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D82CF-A827-4554-9C4A-BB2428AE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관절 좌표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0F6E3-DCE9-420F-B0D8-BE9AC75A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26350E"/>
          </a:solidFill>
          <a:ln xmlns:a="http://schemas.openxmlformats.org/drawingml/2006/main" w="19050">
            <a:solidFill>
              <a:srgbClr val="B9FF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C757B-70C4-4D5C-88F0-465C0641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A5224-204E-43C9-BBB2-83207F9C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Metrics &amp;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C2733-4E07-4B8A-B875-19C80183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피처 · 근거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2C8D0-EABA-47E3-AB3A-3BEE91C9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303F3-3556-4611-8C23-D5155F45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04E10-28B6-41EC-ADDD-C3B5B4BB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Joint Overlay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DD652-0376-4AC4-9A5B-CF872AD5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결과 영상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B3C4D-5330-4914-A5F7-B95FCEF0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17907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422E3A-06D7-4957-A900-742A4154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76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333216-1579-469B-A363-BC80062E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62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Result Packager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AD230A-BDEB-43C7-8FC1-B1B18846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82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JSON ×3 + MP4</a:t>
            </a:r>
          </a:p>
        </p:txBody>
      </p:sp>
      <p:cxnSp>
        <p:nvCxnSpPr>
          <p:cNvPr id="7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9075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34340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cxnSp>
        <p:nvCxnSpPr>
          <p:cNvPr id="81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648700" y="2819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FF2C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67BD8F-31F1-4193-9C0B-3743FDD7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62350"/>
            <a:ext cx="2286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F4C8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4C3038-86C2-43F1-8CD2-C6D7357B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957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67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OPTIONAL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314274-9582-4F8D-9801-E32CA5E7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43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Ollama AI narrative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75136C-36F5-4D9F-9B9B-33A580CE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선택 기능 · Metrics 이후 실행</a:t>
            </a:r>
          </a:p>
        </p:txBody>
      </p:sp>
      <p:cxnSp>
        <p:nvCxnSpPr>
          <p:cNvPr id="86" name=""/>
          <p:cNvCxnSpPr>
            <a:stCxn xmlns:a="http://schemas.openxmlformats.org/drawingml/2006/main" id="15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5600700" y="3314700"/>
            <a:ext cx="62865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C84B"/>
            </a:solidFill>
            <a:prstDash val="dash"/>
            <a:tailEnd type="arrow" w="med" len="med"/>
          </a:ln>
        </p:spPr>
      </p:cxnSp>
      <p:cxnSp>
        <p:nvCxnSpPr>
          <p:cNvPr id="87" name=""/>
          <p:cNvCxnSpPr>
            <a:stCxn xmlns:a="http://schemas.openxmlformats.org/drawingml/2006/main" id="30" idx="3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7372350" y="3314700"/>
            <a:ext cx="381000" cy="5905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F4C84B"/>
            </a:solidFill>
            <a:prstDash val="dash"/>
            <a:tailEnd type="arrow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0E01B3-CF12-4555-BE24-DE9CFB7B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1435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A3A101-8327-4165-A3F5-7FEF47C3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RESULT DELIVERY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FD7702-7ADF-4143-9624-F1CE2C10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OCI Results Bucket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6AFFDD-BD92-4DA3-9E0B-89EC1AB5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JSON 3개와 MP4 업로드 → FastAPI가 임시 결과 URL과 리포트 제공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78E8D0-18EC-4773-98B3-8850805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52950"/>
            <a:ext cx="57912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101512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F54839-3BE0-49A2-B409-81019EF7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244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OBSERVABILITY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AFEBBA-FEFF-4CC0-ACD1-22AD80EC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00BF69-A3C0-42EB-8D7B-DD884AC3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API 로그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D6DC7D-3B59-4657-BBF4-BBC9EDA9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0121A0-51F8-4A31-A9FC-0C785590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추론 로그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8C796D-E012-4FEC-9801-EA23E5A4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4825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D6CE42-0E9C-44C1-818C-2740234B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11492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작업 메트릭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2232BA-6289-4E29-BCDF-9FF683EF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4830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9C99AC-8584-491F-A6F8-0FA884D4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1497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GPU 메트릭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E74FDC-4D45-4090-AFB2-20EFDD27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48300"/>
            <a:ext cx="15621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1B17"/>
          </a:solidFill>
          <a:ln xmlns:a="http://schemas.openxmlformats.org/drawingml/2006/main" w="9525">
            <a:solidFill>
              <a:srgbClr val="28302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DF8666-3BF5-4439-93F7-F32D79D2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14975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F4C84B"/>
                </a:solidFill>
                <a:latin typeface="Pretendard"/>
                <a:ea typeface="Pretendard"/>
                <a:cs typeface="Pretendard"/>
              </a:rPr>
              <a:t>실패 알림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2E4D48-1A57-4384-8268-3BAAA4F0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Worker 상태는 PostgreSQL에 PROCESSING → SUCCESS와 object name으로 기록</a:t>
            </a:r>
          </a:p>
        </p:txBody>
      </p:sp>
    </p:spTree>
    <p:extLst>
      <p:ext uri="{BB962C8B-B14F-4D97-AF65-F5344CB8AC3E}">
        <p14:creationId xmlns:p14="http://schemas.microsoft.com/office/powerpoint/2010/main" val="20285290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939B1-BB1B-497D-8455-13D64308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2C"/>
          </a:solidFill>
          <a:ln xmlns:a="http://schemas.openxmlformats.org/drawingml/2006/main" w="0">
            <a:solidFill>
              <a:srgbClr val="B9FF2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4E854-7504-4184-8AF1-65B21472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러너스아이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D301B-DF1B-4F3E-BF55-4EB0F8F9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러닝 영상을 자세 데이터로 바꾸고,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84AA3-627E-49ED-ABEA-D564E14E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측정값과 개선 피드백을 하나의 리포트로 연결했습니다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8945D-F165-48B4-AE13-CCA15D7D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F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7D4E0-F375-47B2-A312-AE1335AA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영상 기반 관절 추정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2EA16-6885-45E3-9F2D-86902895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95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논문 기반 피처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9230F-A180-40CA-B122-6EC83DBB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95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98A099"/>
                </a:solidFill>
                <a:latin typeface="Pretendard"/>
                <a:ea typeface="Pretendard"/>
                <a:cs typeface="Pretendard"/>
              </a:rPr>
              <a:t>이해할 수 있는 리포트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61FAC-F22C-4535-9079-F5D44221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B9FF2C"/>
                </a:solidFill>
                <a:latin typeface="Pretendard"/>
                <a:ea typeface="Pretendard"/>
                <a:cs typeface="Pretendard"/>
              </a:rPr>
              <a:t>감사합니다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0C75E-F4AA-4C48-B9B6-8C4F4542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15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5F7F5"/>
                </a:solidFill>
                <a:latin typeface="Pretendard"/>
                <a:ea typeface="Pretendard"/>
                <a:cs typeface="Pretendard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951603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2026-09-08T13:02:06.7570000Z</dcterms:created>
  <dcterms:modified xsi:type="dcterms:W3CDTF">2026-09-08T13:02:06.7570000Z</dcterms:modified>
</coreProperties>
</file>