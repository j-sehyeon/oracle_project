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1b3e89450b43ff" /><Relationship Type="http://schemas.openxmlformats.org/officeDocument/2006/relationships/extended-properties" Target="/docProps/app.xml" Id="R06bdefc081ae4e83" /><Relationship Type="http://schemas.openxmlformats.org/officeDocument/2006/relationships/officeDocument" Target="/ppt/presentation.xml" Id="R046bc0e66ef844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3f48c4040e4a18"/>
  </p:sldMasterIdLst>
  <p:notesMasterIdLst>
    <p:notesMasterId xmlns:r="http://schemas.openxmlformats.org/officeDocument/2006/relationships" r:id="R00e0b10bc58346a8"/>
  </p:notesMasterIdLst>
  <p:sldIdLst>
    <p:sldId xmlns:r="http://schemas.openxmlformats.org/officeDocument/2006/relationships" id="256" r:id="R620ed7c6171d47ac"/>
    <p:sldId xmlns:r="http://schemas.openxmlformats.org/officeDocument/2006/relationships" id="257" r:id="R8a91dedfc7434801"/>
    <p:sldId xmlns:r="http://schemas.openxmlformats.org/officeDocument/2006/relationships" id="258" r:id="R9a13faba52124e03"/>
    <p:sldId xmlns:r="http://schemas.openxmlformats.org/officeDocument/2006/relationships" id="259" r:id="R9a76c81607074d3e"/>
    <p:sldId xmlns:r="http://schemas.openxmlformats.org/officeDocument/2006/relationships" id="260" r:id="R6b3b8333e8054505"/>
    <p:sldId xmlns:r="http://schemas.openxmlformats.org/officeDocument/2006/relationships" id="261" r:id="Re70346d70a814f9b"/>
    <p:sldId xmlns:r="http://schemas.openxmlformats.org/officeDocument/2006/relationships" id="262" r:id="R7370b103bce74741"/>
    <p:sldId xmlns:r="http://schemas.openxmlformats.org/officeDocument/2006/relationships" id="263" r:id="R912eb147b1a84dfa"/>
    <p:sldId xmlns:r="http://schemas.openxmlformats.org/officeDocument/2006/relationships" id="264" r:id="Ra9a1c9b8cfb540e0"/>
    <p:sldId xmlns:r="http://schemas.openxmlformats.org/officeDocument/2006/relationships" id="265" r:id="R058a3adba84a439d"/>
    <p:sldId xmlns:r="http://schemas.openxmlformats.org/officeDocument/2006/relationships" id="266" r:id="R7a2d42bdc2db40ed"/>
    <p:sldId xmlns:r="http://schemas.openxmlformats.org/officeDocument/2006/relationships" id="267" r:id="R58e38fe5035a4c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1d38c63f31490f" /><Relationship Type="http://schemas.openxmlformats.org/officeDocument/2006/relationships/slideMaster" Target="/ppt/slideMasters/slideMaster1.xml" Id="R173f48c4040e4a18" /><Relationship Type="http://schemas.openxmlformats.org/officeDocument/2006/relationships/notesMaster" Target="/ppt/notesMasters/notesMaster1.xml" Id="R00e0b10bc58346a8" /><Relationship Type="http://schemas.openxmlformats.org/officeDocument/2006/relationships/presProps" Target="/ppt/presProps.xml" Id="R4c94a396d9bc4237" /><Relationship Type="http://schemas.openxmlformats.org/officeDocument/2006/relationships/tableStyles" Target="/ppt/tableStyles.xml" Id="R74ae3ab3203c4f8c" /><Relationship Type="http://schemas.openxmlformats.org/officeDocument/2006/relationships/slide" Target="/ppt/slides/slide1.xml" Id="R620ed7c6171d47ac" /><Relationship Type="http://schemas.openxmlformats.org/officeDocument/2006/relationships/slide" Target="/ppt/slides/slide2.xml" Id="R8a91dedfc7434801" /><Relationship Type="http://schemas.openxmlformats.org/officeDocument/2006/relationships/slide" Target="/ppt/slides/slide3.xml" Id="R9a13faba52124e03" /><Relationship Type="http://schemas.openxmlformats.org/officeDocument/2006/relationships/slide" Target="/ppt/slides/slide4.xml" Id="R9a76c81607074d3e" /><Relationship Type="http://schemas.openxmlformats.org/officeDocument/2006/relationships/slide" Target="/ppt/slides/slide5.xml" Id="R6b3b8333e8054505" /><Relationship Type="http://schemas.openxmlformats.org/officeDocument/2006/relationships/slide" Target="/ppt/slides/slide6.xml" Id="Re70346d70a814f9b" /><Relationship Type="http://schemas.openxmlformats.org/officeDocument/2006/relationships/slide" Target="/ppt/slides/slide7.xml" Id="R7370b103bce74741" /><Relationship Type="http://schemas.openxmlformats.org/officeDocument/2006/relationships/slide" Target="/ppt/slides/slide8.xml" Id="R912eb147b1a84dfa" /><Relationship Type="http://schemas.openxmlformats.org/officeDocument/2006/relationships/slide" Target="/ppt/slides/slide9.xml" Id="Ra9a1c9b8cfb540e0" /><Relationship Type="http://schemas.openxmlformats.org/officeDocument/2006/relationships/slide" Target="/ppt/slides/slide10.xml" Id="R058a3adba84a439d" /><Relationship Type="http://schemas.openxmlformats.org/officeDocument/2006/relationships/slide" Target="/ppt/slides/slide11.xml" Id="R7a2d42bdc2db40ed" /><Relationship Type="http://schemas.openxmlformats.org/officeDocument/2006/relationships/slide" Target="/ppt/slides/slide12.xml" Id="R58e38fe5035a4c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f1f5d0e11a46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5ef55fa56e4621" /><Relationship Type="http://schemas.openxmlformats.org/officeDocument/2006/relationships/notesMaster" Target="/ppt/notesMasters/notesMaster1.xml" Id="R8dce954638ba4a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513fed26c74110" /><Relationship Type="http://schemas.openxmlformats.org/officeDocument/2006/relationships/notesMaster" Target="/ppt/notesMasters/notesMaster1.xml" Id="Rfb309bbc3d1040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9b27742c44d63" /><Relationship Type="http://schemas.openxmlformats.org/officeDocument/2006/relationships/notesMaster" Target="/ppt/notesMasters/notesMaster1.xml" Id="R72c5cd62eda145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f65a7b7bf24cb9" /><Relationship Type="http://schemas.openxmlformats.org/officeDocument/2006/relationships/notesMaster" Target="/ppt/notesMasters/notesMaster1.xml" Id="Rbe90e83d2f9b47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a31b3044874f76" /><Relationship Type="http://schemas.openxmlformats.org/officeDocument/2006/relationships/notesMaster" Target="/ppt/notesMasters/notesMaster1.xml" Id="Rfed54eadfce74b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7970ecbe8d49b8" /><Relationship Type="http://schemas.openxmlformats.org/officeDocument/2006/relationships/notesMaster" Target="/ppt/notesMasters/notesMaster1.xml" Id="R2ebc53b1099f43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fe7b5a6ee04f72" /><Relationship Type="http://schemas.openxmlformats.org/officeDocument/2006/relationships/notesMaster" Target="/ppt/notesMasters/notesMaster1.xml" Id="Rc34a59d6532043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25c4593d384099" /><Relationship Type="http://schemas.openxmlformats.org/officeDocument/2006/relationships/notesMaster" Target="/ppt/notesMasters/notesMaster1.xml" Id="Rf6bdb80a112f48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576e3c1e7840fa" /><Relationship Type="http://schemas.openxmlformats.org/officeDocument/2006/relationships/notesMaster" Target="/ppt/notesMasters/notesMaster1.xml" Id="Ra3141af2f8f147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ce8590493049a4" /><Relationship Type="http://schemas.openxmlformats.org/officeDocument/2006/relationships/notesMaster" Target="/ppt/notesMasters/notesMaster1.xml" Id="R8f54beeda71943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e5e82f6beb4532" /><Relationship Type="http://schemas.openxmlformats.org/officeDocument/2006/relationships/notesMaster" Target="/ppt/notesMasters/notesMaster1.xml" Id="R4e052479d66e4f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9f476e9dc749d6" /><Relationship Type="http://schemas.openxmlformats.org/officeDocument/2006/relationships/notesMaster" Target="/ppt/notesMasters/notesMaster1.xml" Id="R948ea9e09d1844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서비스 이름과 한 문장 설명만 전달한다. Source: 기존 발표자료 1장.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역할 정보는 제공 자료에 없어 빈칸으로 유지한다. 발표 전 담당 업무를 한 줄씩 입력한다.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Source: 기존 발표자료 4~7장과 앱 화면 이미지. 진단 서비스가 아니라 러닝 자세 분석 및 피드백 서비스로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시연 영상 파일이 제공되지 않아 교체 가능한 영상 영역으로 구성했다. 현재 포스터는 Coach/run/test12/outputs/output.mp4의 대표 프레임이다.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Coach/scripts/main.sh, Coach/README.md. HPE, feature 추출, agent 실행 순서를 코드 기준으로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Coach/scripts/hpe/hpe.py, Coach/scripts/hpe/pose_track.py. detector는 RTMDet-nano, pose는 RTMPose-M Halpe-26, backend는 ONNX Runtime이다.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/var/folders/2v/b65115v14cvgvjztf82wr9x80000gn/T/codex-clipboard-9750139d-1cef-4043-9e6a-3826536e7912.png. 원본 구조도의 detection → 촬영 규격 검사 → HPE → 5프레임 임시 저장 → 보간 → t-2 저장 반복 흐름을 발표용으로 단순화했다.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Coach/scripts/features/feature_extract.py, Coach/scripts/features/utils.py. 네 함수 feature1~feature4와 PoseSequence의 cal_stride, gct, pixel2m을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Coach/scripts/Agent/Running_coach.py, Coach/scripts/Agent/prompts.py. 현재 모델명은 gpt-5-nano이며 feature_results.json을 입력으로 running_report.md를 생성한다.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원본 구조도의 업로드 URL 발급, 브라우저 직접 업로드, 완료/검증, POST /jobs, PostgreSQL·Redis·Celery·GPU Worker, 2.5초 폴링을 두 개 계층으로 재구성했다.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Ollama는 원본 구조도에서 선택 기능이다. 현재 Coach 코드의 리포트 에이전트는 앞 슬라이드처럼 LangChain + gpt-5-nano이며, 두 구현을 동일 구성요소로 오해하지 않도록 분리해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핵심 문장을 읽고 Q&amp;A로 전환한다.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c1f89c053f43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314d07a50e462a" /><Relationship Type="http://schemas.openxmlformats.org/officeDocument/2006/relationships/slideLayout" Target="/ppt/slideLayouts/slideLayout1.xml" Id="R83556649e4c04b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56649e4c04b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cf614fd6f4aed" /><Relationship Type="http://schemas.openxmlformats.org/officeDocument/2006/relationships/image" Target="/ppt/media/image.png" Id="R03a1d2c4ee334b92" /><Relationship Type="http://schemas.openxmlformats.org/officeDocument/2006/relationships/notesSlide" Target="/ppt/notesSlides/notesSlide1.xml" Id="R949b40c5311a4b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32bd011664bb9" /><Relationship Type="http://schemas.openxmlformats.org/officeDocument/2006/relationships/notesSlide" Target="/ppt/notesSlides/notesSlide2.xml" Id="R43a55ac253a446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f3a0d4944468e" /><Relationship Type="http://schemas.openxmlformats.org/officeDocument/2006/relationships/image" Target="/ppt/media/image2.png" Id="R56c6ddf1a56c4525" /><Relationship Type="http://schemas.openxmlformats.org/officeDocument/2006/relationships/image" Target="/ppt/media/image3.png" Id="Rebc443b1c2164b05" /><Relationship Type="http://schemas.openxmlformats.org/officeDocument/2006/relationships/notesSlide" Target="/ppt/notesSlides/notesSlide3.xml" Id="R0a7a332d6fb946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e4670b4194b51" /><Relationship Type="http://schemas.openxmlformats.org/officeDocument/2006/relationships/image" Target="/ppt/media/image4.png" Id="Ree6cacdd8cb0446e" /><Relationship Type="http://schemas.openxmlformats.org/officeDocument/2006/relationships/notesSlide" Target="/ppt/notesSlides/notesSlide4.xml" Id="R82ebcc558ef546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cd266cff449ae" /><Relationship Type="http://schemas.openxmlformats.org/officeDocument/2006/relationships/notesSlide" Target="/ppt/notesSlides/notesSlide5.xml" Id="R7f4f62221cc147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2ee6a666c475a" /><Relationship Type="http://schemas.openxmlformats.org/officeDocument/2006/relationships/image" Target="/ppt/media/image5.png" Id="R77735eb0dcff49d2" /><Relationship Type="http://schemas.openxmlformats.org/officeDocument/2006/relationships/notesSlide" Target="/ppt/notesSlides/notesSlide6.xml" Id="Rac73157ecfc04f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8dc7841964eca" /><Relationship Type="http://schemas.openxmlformats.org/officeDocument/2006/relationships/notesSlide" Target="/ppt/notesSlides/notesSlide7.xml" Id="R2bbba67ff21a45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1ca034d814f75" /><Relationship Type="http://schemas.openxmlformats.org/officeDocument/2006/relationships/image" Target="/ppt/media/image6.png" Id="Rc44684111afe418b" /><Relationship Type="http://schemas.openxmlformats.org/officeDocument/2006/relationships/image" Target="/ppt/media/image7.png" Id="Ra72c9aab337e4e15" /><Relationship Type="http://schemas.openxmlformats.org/officeDocument/2006/relationships/image" Target="/ppt/media/image8.png" Id="Rbf5f58ee78b74c6b" /><Relationship Type="http://schemas.openxmlformats.org/officeDocument/2006/relationships/image" Target="/ppt/media/image9.png" Id="R3a386ef182e44b76" /><Relationship Type="http://schemas.openxmlformats.org/officeDocument/2006/relationships/notesSlide" Target="/ppt/notesSlides/notesSlide8.xml" Id="Rbd231e8b91cc4c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9482916284d62" /><Relationship Type="http://schemas.openxmlformats.org/officeDocument/2006/relationships/notesSlide" Target="/ppt/notesSlides/notesSlide9.xml" Id="Rdecfd760e01346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94f9c1b184afc" /><Relationship Type="http://schemas.openxmlformats.org/officeDocument/2006/relationships/notesSlide" Target="/ppt/notesSlides/notesSlide10.xml" Id="Rd907aa6b2cc14e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2a3423e944fd5" /><Relationship Type="http://schemas.openxmlformats.org/officeDocument/2006/relationships/notesSlide" Target="/ppt/notesSlides/notesSlide11.xml" Id="Rf8d8fb8a41bc46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a26cde19341db" /><Relationship Type="http://schemas.openxmlformats.org/officeDocument/2006/relationships/notesSlide" Target="/ppt/notesSlides/notesSlide12.xml" Id="Rb8c6cb016db64e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FEEDD-04D7-43B2-81CC-0CEC3956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01029-FE6B-4C47-A169-998138DE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1C6C8-30E4-4E8E-AE08-38162CEC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달리는 순간,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데이터로 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6F5AA-5E48-4663-A1B4-80102E39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영상을 자세 데이터와 실행 가능한 피드백으로 바꾸는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BC015-A7F5-41AE-A93E-5527013E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1E408-F3FB-4B75-B98A-B7CC1179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테무 꽃보다 남자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76D36-954E-4C35-8B21-880223C2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박재혁   정승인   정세현   박주환   유한나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E83DF-E88F-4A4B-A21B-0C2EC1B5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42950"/>
            <a:ext cx="2686050" cy="54102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1d2c4ee334b92"/>
          <a:stretch xmlns:a="http://schemas.openxmlformats.org/drawingml/2006/main"/>
        </p:blipFill>
        <p:spPr>
          <a:xfrm xmlns:a="http://schemas.openxmlformats.org/drawingml/2006/main">
            <a:off x="8648700" y="1016418"/>
            <a:ext cx="2171700" cy="48251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82CB9-4B65-4DC2-A5DE-453DE99B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RUNNERS EYE</a:t>
            </a:r>
          </a:p>
        </p:txBody>
      </p:sp>
    </p:spTree>
    <p:extLst>
      <p:ext uri="{BB962C8B-B14F-4D97-AF65-F5344CB8AC3E}">
        <p14:creationId xmlns:p14="http://schemas.microsoft.com/office/powerpoint/2010/main" val="1173765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97973-16AB-466F-897F-72DBB06D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 ·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93C74-CE54-4351-B56A-84F94F66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B8EAE-9483-4584-858E-9FDBAF7B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구성과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29267-7509-4C4D-BEB7-7F57C6A9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6BB0F-346E-488C-B3A0-0A47DD0D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발표 전 각 담당 영역을 입력할 수 있도록 역할 칸을 비워 두었습니다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049CA-6DEA-4301-896D-78492A8F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8F1AD-CAF1-4CC3-9F11-B5022C51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박재혁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07424-9864-47EB-91FD-8F24A572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215D5-BF4F-49E1-9ED8-E625B3F6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9068C-5953-43BE-9D59-301F082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8124C-53DB-435D-A426-2CDA36E7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D9EAB-39E5-4A2E-91A5-8B74637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D3BFD-D0EF-4F20-A413-722B8B92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CC1D3-012C-4EE7-996C-DA45A921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ABCAF-B660-4541-BA10-F206A737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정세현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0D957-4796-4BAD-8188-8565B7F9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825FB-E255-4BA5-813C-4C60867C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B9E5F-20BB-45CD-9288-F4CC7541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B5794-2670-4859-92D4-0F8604A4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박주환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C7933-670B-432C-A1E0-5374B746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641D7-8652-4FF8-9A28-EC27490E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D86DE-8ED9-465B-9181-764AE3AF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E45C31-A313-4672-A2BC-EC36C8E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유한나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CFC14-2DB0-41FB-9CDA-E56C7563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C96A11-1378-405C-BF95-7DC0E789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999531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5B70A-12FA-4DEA-B4EA-6FEB50FC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 ·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2617E-91D8-41F4-8C2D-D5628EAD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21BCC-495B-453E-A04E-6A66AE4D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B268A-1778-4CE1-9AEB-B3C18DFB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460BA-C186-40C9-ADE5-1FB7705F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러닝 영상 한 번으로 자세 측정, 설명, 변화 기록까지 연결합니다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C8EBA-7865-43A8-AB1C-A0E6A0BA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C9679-E187-4ED1-95AF-D4BAC6EB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9BDF4-96B1-4618-BFB8-25CB3D37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전신이 보이는 짧은 MP4와 사용자 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28341-6FB4-42B1-AA09-013BA9B0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861E3-FCCD-4D04-AB8B-7EE90948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49E4E-AC33-4C89-A726-76DCBB71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1984F-C85F-4EB6-A610-71890BAA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좌표에서 네 가지 러닝 자세 특성값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B4AA8-89AF-4532-B9E7-C847EB59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27668-85D3-4AD7-8819-CB304C13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7B6EA-327C-44B6-9C94-56922BA6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리포트와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E19C9-8701-4437-8E23-01E40A1C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측정값, 개선 피드백, 스켈레톤 영상을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01016-7DB8-44F2-9B8A-3992F398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84005-D0C7-4EE5-ADB9-764B42AD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C1143-E10B-491D-ADF8-8717D95C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6ddf1a56c4525"/>
          <a:stretch xmlns:a="http://schemas.openxmlformats.org/drawingml/2006/main"/>
        </p:blipFill>
        <p:spPr>
          <a:xfrm xmlns:a="http://schemas.openxmlformats.org/drawingml/2006/main">
            <a:off x="6953250" y="2035494"/>
            <a:ext cx="1657350" cy="368236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443b1c2164b05"/>
          <a:stretch xmlns:a="http://schemas.openxmlformats.org/drawingml/2006/main"/>
        </p:blipFill>
        <p:spPr>
          <a:xfrm xmlns:a="http://schemas.openxmlformats.org/drawingml/2006/main">
            <a:off x="9372600" y="2035494"/>
            <a:ext cx="1657350" cy="368236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5B512-E802-4172-9601-12CBB5A4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3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8CB58-CC62-4A23-A24D-DD746B58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1252282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33CEF-C835-4C6A-864D-497D6F11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 · 시연 영상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26134-1148-4361-AD0E-C210A7A6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297A8-A896-4BAD-ADE8-E72849E1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시연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3EE55-5BD4-4FC2-9EE3-4B7E7DF0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CFFEC-0325-4AA7-8767-66750514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0055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cacdd8cb0446e"/>
          <a:srcRect xmlns:a="http://schemas.openxmlformats.org/drawingml/2006/main" l="0" t="889" r="0" b="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57350"/>
            <a:ext cx="7620000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73680-FE28-47E0-ADAF-131F8B93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1F021-95C3-4D63-93FB-D34025BB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8EAE1-C292-4AB8-A3AE-1E796059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335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발표용 서비스 시연 영상으로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67472-A954-438A-9218-D2ACF804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65056-1685-44D7-863D-4B60222B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선택과 분석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583D0-D533-4DAB-88AA-52DAA14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EEC08-AAE2-4AAB-95B9-C17043A0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3F259-9C39-4E2B-852E-8F297781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146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진행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2D618-BF10-4963-A5D9-07CF169E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B7E11-CD41-4681-82F3-D1A06335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F7FCD-2EE7-4D53-AB28-64C14C35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점수와 핵심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34EA5-5133-4473-A00E-990E6EBB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00431-28A3-4505-ACC7-4AC84F28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29EDE-1410-426F-96FE-78EF5C15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기록 화면 재조회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45B94-0342-4D81-95CE-7D8F6A13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98B98-5662-429E-97D5-06284C1F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895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2EE50-358E-423F-8086-D4785F10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현재는 Coach 출력 영상의 대표 프레임입니다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영상 파일을 받으면 같은 영역에 교체합니다</a:t>
            </a:r>
          </a:p>
        </p:txBody>
      </p:sp>
    </p:spTree>
    <p:extLst>
      <p:ext uri="{BB962C8B-B14F-4D97-AF65-F5344CB8AC3E}">
        <p14:creationId xmlns:p14="http://schemas.microsoft.com/office/powerpoint/2010/main" val="1073297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EFF8F3-BE1C-459E-9F51-CBC89CAC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C98F5-1B20-4B4A-A826-E8E2CEDB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1CB36-43A3-4314-B3FB-5969F141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핵심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FE819-FFF1-4E6A-B0A5-831BA406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B0BEB-2931-42EF-9FB5-E9F55880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입력부터 관절 데이터, 자세 특성값, 코칭 리포트까지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7B7EA-6395-4EB1-A746-94EC2DDE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3FF2D-9575-48A2-A77E-0B41D7E9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A44C0-566E-4CC7-B20E-ED7ACA5A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DE489-915C-4B18-A0C1-CD6CEC0D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MP4와 사용자 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D79B8-41B6-4BD8-9F21-1B7F308D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1B6AD-8E91-4552-A4B7-0F3C9048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21FDA-6336-45F2-B0BE-15763E1E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40377-8468-448F-9C52-EA517799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818A5-7B3D-492F-A470-ADB3C202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49D1D-C8A4-41EA-A155-8695144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RTMDet + RTMPose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0C28F-8638-46FD-B75B-44E0593C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B8306-B229-4C64-8393-925A9D08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pose_predictions.json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E9C33-2FEE-4E96-9B39-8D1CB96C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E8CBE-7F95-4E4D-BA16-578C2B6A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6E9CD-3219-4F15-A2A8-5F5BED71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33E23-6219-418A-989C-8E3EC113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스트라이드와 4개 자세값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918C8-745F-4521-90D5-3654CE39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F253F-3558-4653-A623-58E6940A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E05EFD-E5D8-44A5-A714-6B3FCF1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23812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554B0-3E99-4361-99E7-E9EDBD95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825E8-AB4B-415F-9BA0-45600840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Coach 에이전트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54798B-2DDE-45DA-ADCC-8503DA6F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판정값을 리포트로 변환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9F3DE-7677-4457-880C-E3B3D072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147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6B6F7F-8379-4BC4-A3CD-3FA509ED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05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9560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77215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648700" y="32194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1864B3-1F11-4B45-A307-021B443A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0109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9A205E-87F2-4660-829C-7F03B666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실행 순서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48DB11-6D1E-4465-B639-D7D3F6A2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72050"/>
            <a:ext cx="946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main.sh가 HPE, features, agent 스크립트를 순서대로 실행하고 run/&lt;case&gt;/outputs에 단계별 산출물을 남깁니다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2755A4-E2CC-4106-87EB-1EC4EF78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코드 근거: Coach/scripts/main.sh</a:t>
            </a:r>
          </a:p>
        </p:txBody>
      </p:sp>
    </p:spTree>
    <p:extLst>
      <p:ext uri="{BB962C8B-B14F-4D97-AF65-F5344CB8AC3E}">
        <p14:creationId xmlns:p14="http://schemas.microsoft.com/office/powerpoint/2010/main" val="1877450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0033B-5D02-4739-975B-36262930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E2C3D-BE9F-4CE4-AC45-CD25B083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1104A-DD25-464C-A7D5-79ED372C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영상에서 HPE 데이터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73A59-D9AA-4E98-A8EB-DB710D0F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69F3E-12E3-4A2E-B1DE-42A963E4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프레임을 저장하지 않고 영상 스트림에서 사람과 26개 관절을 추정합니다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1066C-E5F2-4774-B40B-94B143BE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9455F-892F-41A5-8590-3888F98F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66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 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F4B0D-3A6F-4390-87FF-CB5103D2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FPS, 프레임 수, 해상도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7E836-74EE-4983-B2D8-F6E6D2CE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6BB1B-697D-4CA0-AAC5-9886321C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81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RTMDet-nano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13602-B52C-4770-B39D-065A7591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프레임마다 사람 bounding box 검출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3ABC9-BDAA-4E35-8B93-38FFC833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D91F5-A259-4176-B877-9E5B339A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95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RTMPose-M Halpe-26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2147F-70D7-49FB-B03C-F3F4296D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26개 관절 좌표와 confidence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1B2CA-23D1-4DBE-98EC-F37EC2B8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353E0-DD28-4EB3-AF7A-ACFDA579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0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주 대상 트래킹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3C1EA-9C94-404E-88BA-CA752620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IoU와 bbox score로 한 명의 track_id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F3214-919E-49AA-B18F-D4F47BA2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215F3-6615-449F-832A-8D0D7D51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산출물  pose_predictions.json · details.json · output.mp4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0A1B3-CAC5-4F11-937A-E24FC5DD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53911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35eb0dcff49d2"/>
          <a:srcRect xmlns:a="http://schemas.openxmlformats.org/drawingml/2006/main" l="11800" t="0" r="11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828800"/>
            <a:ext cx="5200650" cy="3829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9D4466-06AD-406B-876E-912E69E3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67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RTMPose 렌더링 결과</a:t>
            </a:r>
          </a:p>
        </p:txBody>
      </p:sp>
    </p:spTree>
    <p:extLst>
      <p:ext uri="{BB962C8B-B14F-4D97-AF65-F5344CB8AC3E}">
        <p14:creationId xmlns:p14="http://schemas.microsoft.com/office/powerpoint/2010/main" val="8178277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F5ADD9-E34E-4FF5-B804-88347FDB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5E69E-3377-4D6E-9860-CD57FCF0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EF68B-3ACB-4D38-B786-4C58637C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프레임 버퍼와 관절 보간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7CC01-6588-4D9D-969C-B221A157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D3416-5E69-4E4C-8969-F9936CB6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5개 프레임을 함께 보며 누락된 관절을 보완한 뒤 두 프레임 늦게 저장합니다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920CE-4ED6-4886-8DFE-EAF3CA63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9240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E1B1B-DD9D-4AAB-BE1D-B3C7C54C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15E53-2FAC-4BE7-B252-DC96661D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프레임 분할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3E5BA-A382-466E-80EF-C7E2E0A3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t+3 로드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2AF65-9C58-425D-99DE-F2AD76AB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00250"/>
            <a:ext cx="19240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ADA7F-D378-437C-9F44-3DC02C07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43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AA0BD-727B-45AA-B229-EC8A22C7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1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사람 검출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55475-41AF-4E95-AA05-EF479BED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detection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E597E-4CB4-4232-A271-D9FD6DFB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19240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5FE03-2296-4945-A802-FF46C0FD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43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BAD0A-F44A-442D-B50A-E150305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촬영 규격 검사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CF7AC-6D29-438C-86C2-4EBC3786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분석 가능 여부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13EEA-4D5D-46CF-A426-38C14A3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00250"/>
            <a:ext cx="19240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197CA-282D-473F-A131-1F29FBDE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959DC-539D-4B43-BA9A-F9216B5C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4E9BB-57F9-46B8-A718-216557D2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 추정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7AC8E-C85B-40F9-8EFF-8BCBAB65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00250"/>
            <a:ext cx="19240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5B8D5-1413-4469-98CB-FE5FCD4F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43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E3CEE-6F99-4BDA-886F-EE13005C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1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5프레임 버퍼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500BE-70A0-4C50-B265-BE7673C8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24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 ··· t+2</a:t>
            </a:r>
          </a:p>
        </p:txBody>
      </p:sp>
      <p:cxnSp>
        <p:nvCxnSpPr>
          <p:cNvPr id="7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24100" y="24955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648200" y="24955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972300" y="24955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2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96400" y="24955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0E087-8AD0-48A4-8996-20F9CE12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73914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E5301B-E520-4B03-80D3-DCCC4507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ROLLING WINDOW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49AD37-130F-459D-82F8-1034EA15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누락 지점은 앞뒤 관절 좌표로 보간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AFE668-C569-4772-8833-DE6DFFA3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622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02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0135C8-D1A5-4C2B-9E45-CD97CB8E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1149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6F27D7-3D56-4E2F-98CF-9C3D7BF0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ED3654-1CAD-4487-9AB0-D20DDB29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924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4620C3-5F55-4F4C-A5A9-3EC82AAB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67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0098AF-0560-4D00-96A2-313F3395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339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F4C84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DC392C-3265-46B2-8297-738795DE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67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2320B5-5DF9-4B98-B555-8592037A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244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B19D0B-3CBC-4155-B601-41A5BFA8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67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F87D06-76AD-4FD4-BE15-23AE49CB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149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79DBA8-9C8F-4769-AE9F-26AF860B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67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DE135F-3007-4DD1-AA82-D8CC4756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196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누락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111863-90DF-4F83-91B1-A0732941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054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보간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045BC7-1A60-4A4A-989B-AE5A999D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35052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80E0B3-0177-44BB-A36D-B09F3F64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왜 두 프레임 늦게 쓰나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EBC078-C141-469D-A281-E8CB26B9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9FA088-3A58-416C-A3D6-5B1E43E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현재 t를 보완하려면 t+1, t+2가 필요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F03C41-8AC7-46A6-A33A-1AC56A0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434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99172A-07D7-4CE3-86D3-88868A7C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24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5개 포즈를 확보한 뒤 t-2를 출력 영상에 저장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434F0A-972D-4BFD-B847-F88BE06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149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4BE18F-C184-4454-8A86-635627D0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95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다음 t+3 프레임을 읽고 같은 창을 한 칸 이동</a:t>
            </a:r>
          </a:p>
        </p:txBody>
      </p:sp>
    </p:spTree>
    <p:extLst>
      <p:ext uri="{BB962C8B-B14F-4D97-AF65-F5344CB8AC3E}">
        <p14:creationId xmlns:p14="http://schemas.microsoft.com/office/powerpoint/2010/main" val="1134082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A7D7BD-3356-44B8-9F01-DDC65EFC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CF6DD-E1C0-4F10-ACB0-9C402D3C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4A6DC-54F3-447C-909D-D0B222D9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네 가지 자세 피처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F96F4-F7AF-445E-A2FB-0D0F355E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280C1-FC52-4A72-A957-8CF5A94B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스트라이드와 접지 구간을 찾은 뒤 사용자 키로 픽셀 거리를 보정합니다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5F4B6-766B-4DCD-9F65-ABFE5E95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684111afe418b"/>
          <a:stretch xmlns:a="http://schemas.openxmlformats.org/drawingml/2006/main"/>
        </p:blipFill>
        <p:spPr>
          <a:xfrm xmlns:a="http://schemas.openxmlformats.org/drawingml/2006/main">
            <a:off x="863043" y="2057400"/>
            <a:ext cx="1588614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D0FE5-7589-4B71-A393-12D33C3F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9BF1E-7621-4C4F-BE9B-FB7CBD6A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골반 수직 진동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01894-6C22-4CB3-BE2B-8EA24063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접지 중 골반 높이 변화 ÷ 신장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7346D-EFAE-4388-9A8F-717EC62C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c9aab337e4e15"/>
          <a:stretch xmlns:a="http://schemas.openxmlformats.org/drawingml/2006/main"/>
        </p:blipFill>
        <p:spPr>
          <a:xfrm xmlns:a="http://schemas.openxmlformats.org/drawingml/2006/main">
            <a:off x="37404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69266-18C8-4E56-B9A3-AFA94F3C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8048F-156D-4735-9E2E-E4921899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팔꿈치 각도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6A469-FC03-4943-907D-528AB51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한 스트라이드의 각도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63AAA-AAAC-4476-98D0-549C4B50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f58ee78b74c6b"/>
          <a:stretch xmlns:a="http://schemas.openxmlformats.org/drawingml/2006/main"/>
        </p:blipFill>
        <p:spPr>
          <a:xfrm xmlns:a="http://schemas.openxmlformats.org/drawingml/2006/main">
            <a:off x="661700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F40C3-187F-419D-8C01-0A8B87D9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8CE85-87C1-4581-8231-25BB4AB6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몸통 굴곡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0F1E5-9521-4A47-B048-219B00F7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어깨 중심과 골반 중심의 기울기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076E0-DE21-43F8-9688-F4920FB8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86ef182e44b76"/>
          <a:stretch xmlns:a="http://schemas.openxmlformats.org/drawingml/2006/main"/>
        </p:blipFill>
        <p:spPr>
          <a:xfrm xmlns:a="http://schemas.openxmlformats.org/drawingml/2006/main">
            <a:off x="94935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E8917-A3A9-476B-AD12-B78028E4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0A251-0A24-43B5-8432-A2FEAD7F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전방 자세 기울기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BBAA8-0329-4E48-9E39-DD319B19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목과 발목을 잇는 선의 각도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491402-DC26-467B-A2DC-4E6F4A10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PoseSequence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78B67B-4304-4C5C-B9B7-F3330E65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219825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무릎 각도로 스트라이드 탐지 · TD–TO 접지 구간 계산 · pixel2m 신장 보정</a:t>
            </a:r>
          </a:p>
        </p:txBody>
      </p:sp>
    </p:spTree>
    <p:extLst>
      <p:ext uri="{BB962C8B-B14F-4D97-AF65-F5344CB8AC3E}">
        <p14:creationId xmlns:p14="http://schemas.microsoft.com/office/powerpoint/2010/main" val="1707675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5807C-A2FB-46E6-80DF-DECAF5C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2E904-2F8C-4F0E-8490-472169A7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07436-3826-42AA-A45E-5C1092E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판정 로직과 Coach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78F1B-3707-4185-9F18-A50ECEE4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178D6-81D4-498E-BC63-1E39A932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수치 계산과 문장 생성을 분리해 결과의 근거를 추적할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B4B20-AB55-48EF-87BB-2061FAF7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1F311-50B4-4822-8C24-682BFFBD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계산과 구간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F7A06-91AC-42DF-B982-928543B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feature_results.json에 측정값, 기준 구간,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행동 지시, 결과 해석을 구조화해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25EB8-F4B8-4D7D-8D68-ADFB32EA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1719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38D0C-5D21-47D3-8665-0A2A59B2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value,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range 또는 boundary,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instruction, outcome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92E57-5EA0-438A-83E3-75DD13C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4개 피처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E41D4-D196-4878-AEDB-7F5F1607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Rule Base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B3826-930B-4CAB-B8EE-D5FADE9F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594D9-F4E1-478A-9572-B3897BCF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LANGCHAIN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D0D79-D965-4014-94B0-28992C3F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gpt-5-nano가 리포트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FDE54-8A5D-4C14-A594-BF539E23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현재 Coach 코드는 feature_results.json만 모델에 전달합니다.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모델은 수치를 다시 계산하지 않고 설명 문장을 작성합니다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87370-73CE-4C5B-B76F-54C99405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F72C4-A40C-45E5-BB02-ED88C05C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46530-B7BE-45F1-B190-68CF59BE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41749-B7F6-4355-99C9-67A2E3D9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D379C-9A7E-4EE7-AE59-A59C0703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D4111-FBBF-4DD6-84D0-AADFA1B9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FF02F-66CD-4F02-9244-931FB59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13906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E8D33-8CB1-44B8-9343-761EA1CE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29D89-3C14-40CF-A558-F75D60BA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38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55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6285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71550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CBFDF-D654-4FD0-BF90-1A79B05C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569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8B104-19DE-4952-8BEB-6A63794C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0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 Coach 구현 모델  gpt-5-nano · 기존 PPT의 모델 표기를 코드 기준으로 업데이트</a:t>
            </a:r>
          </a:p>
        </p:txBody>
      </p:sp>
    </p:spTree>
    <p:extLst>
      <p:ext uri="{BB962C8B-B14F-4D97-AF65-F5344CB8AC3E}">
        <p14:creationId xmlns:p14="http://schemas.microsoft.com/office/powerpoint/2010/main" val="16812307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DA0390-05FC-42AD-BC08-36194EC6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9D5B9-FE87-4682-9426-1A4CEED2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D9854-2E06-47A6-A5F5-03622399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업로드와 작업 생명주기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FD98D-2735-4353-A71D-62CDD002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1AB46-48DE-4B29-A28F-A523AC65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대용량 영상은 Object Storage로 직접 올리고, API는 검증과 작업 상태를 관리합니다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02C59-1435-4E1E-972D-10B69127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웹 · API 계층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50142-ECD7-4324-BF1D-7BD6B88D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0002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17511-BD3E-4E78-92C3-1300E911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862A9-7E21-457B-9044-05341E2B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Next.js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4685D-C8B1-4BC5-BF2B-91C34AF2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16573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8320B-388D-4F4F-A76C-8F008431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193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9D5DB-3E48-43EB-86C9-8F291F52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432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78B7B-C063-420F-BB04-54E52B69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66950"/>
            <a:ext cx="20002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06414-5233-4854-B298-78F999DA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193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CAE72-AA55-4460-959D-016AA487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43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8EBF4-9EBD-4072-B24B-2AFD4F51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38350"/>
            <a:ext cx="278130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8B09E-1BFC-4D53-84FE-AEA776DF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OBJECT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0A0F6-6607-4C8C-8C59-A222AE69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Raw Bucket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6E557-6B89-4BB1-8123-15E1AA7E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원본 MP4 임시 저장</a:t>
            </a:r>
          </a:p>
        </p:txBody>
      </p: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00300" y="27527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43450" y="27527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429500" y="2733675"/>
            <a:ext cx="14478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3029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FFA49B-E60A-4FA7-B950-8B02269F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193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POST /api/uploads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030A2-50B5-4E73-8D31-C5BC61B4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X-API-Key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2AB61-959F-4F42-8CB9-5E9ED55F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43150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임시 업로드 URL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46C949-AD44-45A9-B0E7-C77EC7F9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Browser → OCI 직접 PUT · 완료 통보 후 HEAD로 size/type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CB4FBC-4504-4F80-A058-B9DF31F6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비동기 작업 계층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E3897-646F-4701-ADEB-2B567D1F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2190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2ED8F-CFD2-416E-9CD9-4E1CC0E6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JOB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148CF-F741-4A36-AD4C-EB03DEA0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D268A8-6601-441B-B822-AF07F6C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QUEUED → PROCESSING → SUCCESS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3923FF-1BEB-4153-906E-AEF5161E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19600"/>
            <a:ext cx="16764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95DDAB-C8CE-4A35-8195-EE1EB646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72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BROKER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258F3-1D8F-4970-876F-7ACFB4AC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33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287E4D-537A-418F-A2FE-063C2701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19600"/>
            <a:ext cx="16764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9D2ACC-94CA-42FC-9AA4-1ABCE3CD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QUEUE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878D20-2BB7-4FC0-A68E-99FDEDA9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Celery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6CC9A6-9FAA-46BC-AAC6-13A8025C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20002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59E016-70BC-4BFE-AFE4-F42E4FF2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COMPUTE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B724AE-DFC4-4608-A0A6-FF8B50F9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Worker</a:t>
            </a:r>
          </a:p>
        </p:txBody>
      </p:sp>
      <p:cxnSp>
        <p:nvCxnSpPr>
          <p:cNvPr id="90" name=""/>
          <p:cNvCxnSpPr>
            <a:stCxn xmlns:a="http://schemas.openxmlformats.org/drawingml/2006/main" id="28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590800" y="49530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3029"/>
            </a:solidFill>
            <a:prstDash val="solid"/>
            <a:tailEnd type="arrow" w="med" len="med"/>
          </a:ln>
        </p:spPr>
      </p:cxnSp>
      <p:cxnSp>
        <p:nvCxnSpPr>
          <p:cNvPr id="91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953000" y="49530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315200" y="49530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92D299-B304-420C-9EE9-32B6F564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19600"/>
            <a:ext cx="12763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D10EA5-7470-46CD-87D4-4979126B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6101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상태 조회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B675A5-ECF5-472F-B723-B0CD51FB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97205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2.5초 간격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최대 1시간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3D729A-B8CA-4911-8F7E-64BC1CE0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531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POST /jobs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DF8F33-75C9-464F-92E5-8A924CBC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7531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작업 발행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C5EF69-085C-40EA-861B-4ADE09AB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7531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작업 전달</a:t>
            </a:r>
          </a:p>
        </p:txBody>
      </p:sp>
    </p:spTree>
    <p:extLst>
      <p:ext uri="{BB962C8B-B14F-4D97-AF65-F5344CB8AC3E}">
        <p14:creationId xmlns:p14="http://schemas.microsoft.com/office/powerpoint/2010/main" val="777717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7B97FB-7265-4426-833F-A30BE1D8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4DCB9-28C2-4D63-8C1B-3BCCAE9A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265D5-218A-4AD0-97E3-57566A71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분석 Worker와 결과 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1D097-B95C-4AAA-9B1B-38960D9D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02D9D-0BED-4D86-9094-4464D973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GPU Worker가 분석 산출물을 패키징하고, 결과 URL과 리포트를 API로 돌려줍니다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B97C5-A878-464B-BF46-3C9DEDB8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 INFERENCE 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95992-223A-45A9-9820-5A5E0153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4CEF4-06B1-4502-9DC9-45939DEF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44DD1-688D-4095-A753-0CC549B4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514B0-4EDF-4BCC-B3C3-2C8BFFF9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CAF24-2FD6-4987-808E-369C2271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78ABA-647E-4F99-AFE6-4064E4DF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B2E97-4E92-42A7-8654-09EFAFD1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E779B-448D-44FD-B5F0-659C9BB1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BD2E4-6A34-480C-A506-9809FD45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1630A-0310-4CDD-BFA5-BCCF821E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ECF83-1046-4B14-8DF1-1A951F00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Metrics &amp;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BA01A-47F3-402F-9772-159E4241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피처 · 근거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FC3E8-2435-48BE-82A1-B66058D8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29D7A-82DA-4DB6-8C0C-4A5D34C0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006F7-AB43-4AD2-A464-DF914AA4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Joint Overlay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AF6F8-07DF-4E6F-B9DE-4906ED11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결과 영상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C5303-AF63-4A97-865C-0BB106F4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97318-0005-4053-B432-BC0AC31F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3C152-2430-40D3-A968-98AB021E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Result Packager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3AF5B-D138-4147-987C-31BE2A0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×3 + MP4</a:t>
            </a:r>
          </a:p>
        </p:txBody>
      </p:sp>
      <p:cxnSp>
        <p:nvCxnSpPr>
          <p:cNvPr id="7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9075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7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434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49605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487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C77F64-E9FB-4960-95AB-563CF635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228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2A65A5-AFBB-4DBC-9488-48A74A66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OPTIONAL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1BA669-833D-401F-AB0D-A6E1162E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Ollama AI narrative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7A093A-2AEB-40C6-8412-2818BC44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 · Metrics 이후 실행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0BE990-1442-479B-A46F-1735CE5B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43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F000D8-3180-4B7C-8600-8B99A4D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RESULT DELIVERY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03491B-9528-4878-90A1-726E8E6B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319E95-C065-4C0D-A1DA-FDBE13D4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3개와 MP4 업로드 → FastAPI가 임시 결과 URL과 리포트 제공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628138-0757-4531-BE5C-13198FC0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52950"/>
            <a:ext cx="57912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374DDA-7C51-4F6D-A781-61BBB679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OBSERVABILITY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D50192-B479-4708-906D-95C421F4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4BB521-C2A5-49CB-AE17-9693E682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4FC297-EE71-4ADB-82BF-70EA191E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7C0E37-F84A-4E0E-BC8C-B20E3076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18B0D0-FBEE-44FD-8332-562476B0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939B3A-1897-4341-9F42-3B564A4C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234267-0114-4F61-9CA9-0AE2FDCF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25A267-7AE1-4A8B-8967-94124C3A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A0A3B1-FCCD-4D87-B688-CE8B78B5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2B9CB3-9FE8-44F5-B9EB-B1861961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C9CF12-34A4-4F0C-9C2E-63D41671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 상태는 PostgreSQL에 PROCESSING → SUCCESS와 object name으로 기록</a:t>
            </a:r>
          </a:p>
        </p:txBody>
      </p:sp>
    </p:spTree>
    <p:extLst>
      <p:ext uri="{BB962C8B-B14F-4D97-AF65-F5344CB8AC3E}">
        <p14:creationId xmlns:p14="http://schemas.microsoft.com/office/powerpoint/2010/main" val="209058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75501-7476-446F-A466-C5E17096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462C2-AE09-4C81-B22D-B72C18EA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34972-983B-4B9D-B6AB-1501A05B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러닝 영상을 자세 데이터로 바꾸고,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2E444-8A10-4147-9BC3-72E72F80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측정값과 개선 피드백을 하나의 리포트로 연결했습니다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49A7C-2404-4C3E-A752-4C566D42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BEFA0-1B4F-49B4-9413-23BDC494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기반 관절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2D3E9-6586-4549-A004-38BE432A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논문 기반 피처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BF953-1B11-4D8D-A35D-AB5C256B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이해할 수 있는 리포트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7FA0E-3814-4A7E-857E-A5C11939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3AC5F-7CFA-419A-8C2E-0266A863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52293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2026-09-08T11:47:28.5290000Z</dcterms:created>
  <dcterms:modified xsi:type="dcterms:W3CDTF">2026-09-08T11:47:28.5290000Z</dcterms:modified>
</coreProperties>
</file>